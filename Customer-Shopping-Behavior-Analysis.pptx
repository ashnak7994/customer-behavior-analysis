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Alexandria ExtraBold"/>
      <p:regular r:id="rId201314"/>
    </p:embeddedFont>
    <p:embeddedFont>
      <p:font typeface="Alexandria Thin"/>
      <p:regular r:id="rId201315"/>
    </p:embeddedFont>
    <p:embeddedFont>
      <p:font typeface="Alexandria ExtraLight"/>
      <p:regular r:id="rId201316"/>
    </p:embeddedFont>
    <p:embeddedFont>
      <p:font typeface="Alexandria Light"/>
      <p:regular r:id="rId201317"/>
    </p:embeddedFont>
    <p:embeddedFont>
      <p:font typeface="Alexandria"/>
      <p:regular r:id="rId201318"/>
    </p:embeddedFont>
    <p:embeddedFont>
      <p:font typeface="Alexandria Medium"/>
      <p:regular r:id="rId201319"/>
    </p:embeddedFont>
    <p:embeddedFont>
      <p:font typeface="Alexandria SemiBold"/>
      <p:regular r:id="rId201320"/>
    </p:embeddedFont>
    <p:embeddedFont>
      <p:font typeface="Alexandria Bold"/>
      <p:regular r:id="rId201321"/>
    </p:embeddedFont>
    <p:embeddedFont>
      <p:font typeface="Alexandria Black"/>
      <p:regular r:id="rId201322"/>
    </p:embeddedFont>
    <p:embeddedFont>
      <p:font typeface="Manrope ExtraLight"/>
      <p:regular r:id="rId201323"/>
    </p:embeddedFont>
    <p:embeddedFont>
      <p:font typeface="Manrope Light"/>
      <p:regular r:id="rId201324"/>
    </p:embeddedFont>
    <p:embeddedFont>
      <p:font typeface="Manrope"/>
      <p:regular r:id="rId201325"/>
    </p:embeddedFont>
    <p:embeddedFont>
      <p:font typeface="Manrope Medium"/>
      <p:regular r:id="rId201326"/>
    </p:embeddedFont>
    <p:embeddedFont>
      <p:font typeface="Manrope SemiBold"/>
      <p:regular r:id="rId201327"/>
    </p:embeddedFont>
    <p:embeddedFont>
      <p:font typeface="Manrope Bold"/>
      <p:regular r:id="rId201328"/>
    </p:embeddedFont>
    <p:embeddedFont>
      <p:font typeface="Manrope ExtraBold"/>
      <p:regular r:id="rId20132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 Id="rId201333" Target="fonts/201333.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image" Target="../media/image-10-1.png"/><Relationship Id="rId10" Type="http://schemas.openxmlformats.org/officeDocument/2006/relationships/image" Target="../media/image-10-2.svg"/><Relationship Id="rId11" Type="http://schemas.openxmlformats.org/officeDocument/2006/relationships/slideLayout" Target="../slideLayouts/slideLayout2.xml"/><Relationship Id="rId1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682204"/>
            <a:ext cx="4722763" cy="885974"/>
          </a:xfrm>
          <a:prstGeom prst="rect">
            <a:avLst/>
          </a:prstGeom>
          <a:noFill/>
          <a:ln/>
        </p:spPr>
        <p:txBody>
          <a:bodyPr wrap="square" lIns="0" tIns="0" rIns="0" bIns="0" rtlCol="0" anchor="t">
            <a:normAutofit/>
          </a:bodyPr>
          <a:lstStyle/>
          <a:p>
            <a:pPr algn="l" indent="0" marL="0">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Customer Shopping Behavior Analysis</a:t>
            </a:r>
            <a:endParaRPr lang="en-US" sz="2750" dirty="0"/>
          </a:p>
        </p:txBody>
      </p:sp>
      <p:sp>
        <p:nvSpPr>
          <p:cNvPr id="4" name="Text 1"/>
          <p:cNvSpPr/>
          <p:nvPr/>
        </p:nvSpPr>
        <p:spPr>
          <a:xfrm>
            <a:off x="3925119" y="2780779"/>
            <a:ext cx="4722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Uncovering insights from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3,900 transactions</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 across product categories — spending patterns, customer segments, and subscription behavior — to guide strategic business decisions.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97669"/>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Dataset at a Glance</a:t>
            </a:r>
            <a:endParaRPr lang="en-US" sz="2750" dirty="0"/>
          </a:p>
        </p:txBody>
      </p:sp>
      <p:sp>
        <p:nvSpPr>
          <p:cNvPr id="3" name="Text 1"/>
          <p:cNvSpPr/>
          <p:nvPr/>
        </p:nvSpPr>
        <p:spPr>
          <a:xfrm>
            <a:off x="496119" y="1195015"/>
            <a:ext cx="3987254" cy="467841"/>
          </a:xfrm>
          <a:prstGeom prst="rect">
            <a:avLst/>
          </a:prstGeom>
          <a:noFill/>
          <a:ln/>
        </p:spPr>
        <p:txBody>
          <a:bodyPr wrap="none" lIns="0" tIns="0" rIns="0" bIns="0" rtlCol="0" anchor="t"/>
          <a:lstStyle/>
          <a:p>
            <a:pPr algn="ctr" indent="0" marL="0">
              <a:lnSpc>
                <a:spcPct val="83000"/>
              </a:lnSpc>
              <a:buNone/>
            </a:pPr>
            <a:r>
              <a:rPr lang="en-US" sz="3650" dirty="0">
                <a:solidFill>
                  <a:srgbClr val="5B6E8C"/>
                </a:solidFill>
                <a:latin typeface="Alexandria Medium" pitchFamily="34" charset="0"/>
                <a:ea typeface="Alexandria Medium" pitchFamily="34" charset="-122"/>
                <a:cs typeface="Alexandria Medium" pitchFamily="34" charset="-120"/>
              </a:rPr>
              <a:t>3,900</a:t>
            </a:r>
            <a:endParaRPr lang="en-US" sz="3650" dirty="0"/>
          </a:p>
        </p:txBody>
      </p:sp>
      <p:sp>
        <p:nvSpPr>
          <p:cNvPr id="4" name="Text 2"/>
          <p:cNvSpPr/>
          <p:nvPr/>
        </p:nvSpPr>
        <p:spPr>
          <a:xfrm>
            <a:off x="496119" y="1839962"/>
            <a:ext cx="3987254" cy="221456"/>
          </a:xfrm>
          <a:prstGeom prst="rect">
            <a:avLst/>
          </a:prstGeom>
          <a:noFill/>
          <a:ln/>
        </p:spPr>
        <p:txBody>
          <a:bodyPr wrap="none" lIns="0" tIns="0" rIns="0" bIns="0" rtlCol="0" anchor="t"/>
          <a:lstStyle/>
          <a:p>
            <a:pPr algn="ctr"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Transactions</a:t>
            </a:r>
            <a:endParaRPr lang="en-US" sz="1350" dirty="0"/>
          </a:p>
        </p:txBody>
      </p:sp>
      <p:sp>
        <p:nvSpPr>
          <p:cNvPr id="5" name="Text 3"/>
          <p:cNvSpPr/>
          <p:nvPr/>
        </p:nvSpPr>
        <p:spPr>
          <a:xfrm>
            <a:off x="496119" y="2146474"/>
            <a:ext cx="3987254" cy="226814"/>
          </a:xfrm>
          <a:prstGeom prst="rect">
            <a:avLst/>
          </a:prstGeom>
          <a:noFill/>
          <a:ln/>
        </p:spPr>
        <p:txBody>
          <a:bodyPr wrap="none" lIns="0" tIns="0" rIns="0" bIns="0" rtlCol="0" anchor="t"/>
          <a:lstStyle/>
          <a:p>
            <a:pPr algn="ctr" indent="0" marL="0">
              <a:lnSpc>
                <a:spcPct val="133000"/>
              </a:lnSpc>
              <a:buNone/>
            </a:pPr>
            <a:r>
              <a:rPr lang="en-US" sz="1100" dirty="0">
                <a:solidFill>
                  <a:srgbClr val="5B6E8C"/>
                </a:solidFill>
                <a:latin typeface="Manrope" pitchFamily="34" charset="0"/>
                <a:ea typeface="Manrope" pitchFamily="34" charset="-122"/>
                <a:cs typeface="Manrope" pitchFamily="34" charset="-120"/>
              </a:rPr>
              <a:t>Across all product categories</a:t>
            </a:r>
            <a:endParaRPr lang="en-US" sz="1100" dirty="0"/>
          </a:p>
        </p:txBody>
      </p:sp>
      <p:sp>
        <p:nvSpPr>
          <p:cNvPr id="6" name="Text 4"/>
          <p:cNvSpPr/>
          <p:nvPr/>
        </p:nvSpPr>
        <p:spPr>
          <a:xfrm>
            <a:off x="4660553" y="1195015"/>
            <a:ext cx="3987329" cy="467841"/>
          </a:xfrm>
          <a:prstGeom prst="rect">
            <a:avLst/>
          </a:prstGeom>
          <a:noFill/>
          <a:ln/>
        </p:spPr>
        <p:txBody>
          <a:bodyPr wrap="none" lIns="0" tIns="0" rIns="0" bIns="0" rtlCol="0" anchor="t"/>
          <a:lstStyle/>
          <a:p>
            <a:pPr algn="ctr" indent="0" marL="0">
              <a:lnSpc>
                <a:spcPct val="83000"/>
              </a:lnSpc>
              <a:buNone/>
            </a:pPr>
            <a:r>
              <a:rPr lang="en-US" sz="3650" dirty="0">
                <a:solidFill>
                  <a:srgbClr val="5B6E8C"/>
                </a:solidFill>
                <a:latin typeface="Alexandria Medium" pitchFamily="34" charset="0"/>
                <a:ea typeface="Alexandria Medium" pitchFamily="34" charset="-122"/>
                <a:cs typeface="Alexandria Medium" pitchFamily="34" charset="-120"/>
              </a:rPr>
              <a:t>18</a:t>
            </a:r>
            <a:endParaRPr lang="en-US" sz="3650" dirty="0"/>
          </a:p>
        </p:txBody>
      </p:sp>
      <p:sp>
        <p:nvSpPr>
          <p:cNvPr id="7" name="Text 5"/>
          <p:cNvSpPr/>
          <p:nvPr/>
        </p:nvSpPr>
        <p:spPr>
          <a:xfrm>
            <a:off x="4660553" y="1839962"/>
            <a:ext cx="3987329" cy="221456"/>
          </a:xfrm>
          <a:prstGeom prst="rect">
            <a:avLst/>
          </a:prstGeom>
          <a:noFill/>
          <a:ln/>
        </p:spPr>
        <p:txBody>
          <a:bodyPr wrap="none" lIns="0" tIns="0" rIns="0" bIns="0" rtlCol="0" anchor="t"/>
          <a:lstStyle/>
          <a:p>
            <a:pPr algn="ctr"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Columns</a:t>
            </a:r>
            <a:endParaRPr lang="en-US" sz="1350" dirty="0"/>
          </a:p>
        </p:txBody>
      </p:sp>
      <p:sp>
        <p:nvSpPr>
          <p:cNvPr id="8" name="Text 6"/>
          <p:cNvSpPr/>
          <p:nvPr/>
        </p:nvSpPr>
        <p:spPr>
          <a:xfrm>
            <a:off x="4660553" y="2146474"/>
            <a:ext cx="3987329" cy="226814"/>
          </a:xfrm>
          <a:prstGeom prst="rect">
            <a:avLst/>
          </a:prstGeom>
          <a:noFill/>
          <a:ln/>
        </p:spPr>
        <p:txBody>
          <a:bodyPr wrap="none" lIns="0" tIns="0" rIns="0" bIns="0" rtlCol="0" anchor="t"/>
          <a:lstStyle/>
          <a:p>
            <a:pPr algn="ctr" indent="0" marL="0">
              <a:lnSpc>
                <a:spcPct val="133000"/>
              </a:lnSpc>
              <a:buNone/>
            </a:pPr>
            <a:r>
              <a:rPr lang="en-US" sz="1100" dirty="0">
                <a:solidFill>
                  <a:srgbClr val="5B6E8C"/>
                </a:solidFill>
                <a:latin typeface="Manrope" pitchFamily="34" charset="0"/>
                <a:ea typeface="Manrope" pitchFamily="34" charset="-122"/>
                <a:cs typeface="Manrope" pitchFamily="34" charset="-120"/>
              </a:rPr>
              <a:t>Demographics, purchases &amp; behavior</a:t>
            </a:r>
            <a:endParaRPr lang="en-US" sz="1100" dirty="0"/>
          </a:p>
        </p:txBody>
      </p:sp>
      <p:sp>
        <p:nvSpPr>
          <p:cNvPr id="9" name="Text 7"/>
          <p:cNvSpPr/>
          <p:nvPr/>
        </p:nvSpPr>
        <p:spPr>
          <a:xfrm>
            <a:off x="496119" y="2727647"/>
            <a:ext cx="3987254" cy="467841"/>
          </a:xfrm>
          <a:prstGeom prst="rect">
            <a:avLst/>
          </a:prstGeom>
          <a:noFill/>
          <a:ln/>
        </p:spPr>
        <p:txBody>
          <a:bodyPr wrap="none" lIns="0" tIns="0" rIns="0" bIns="0" rtlCol="0" anchor="t"/>
          <a:lstStyle/>
          <a:p>
            <a:pPr algn="ctr" indent="0" marL="0">
              <a:lnSpc>
                <a:spcPct val="83000"/>
              </a:lnSpc>
              <a:buNone/>
            </a:pPr>
            <a:r>
              <a:rPr lang="en-US" sz="3650" dirty="0">
                <a:solidFill>
                  <a:srgbClr val="5B6E8C"/>
                </a:solidFill>
                <a:latin typeface="Alexandria Medium" pitchFamily="34" charset="0"/>
                <a:ea typeface="Alexandria Medium" pitchFamily="34" charset="-122"/>
                <a:cs typeface="Alexandria Medium" pitchFamily="34" charset="-120"/>
              </a:rPr>
              <a:t>37</a:t>
            </a:r>
            <a:endParaRPr lang="en-US" sz="3650" dirty="0"/>
          </a:p>
        </p:txBody>
      </p:sp>
      <p:sp>
        <p:nvSpPr>
          <p:cNvPr id="10" name="Text 8"/>
          <p:cNvSpPr/>
          <p:nvPr/>
        </p:nvSpPr>
        <p:spPr>
          <a:xfrm>
            <a:off x="496119" y="3372594"/>
            <a:ext cx="3987254" cy="221456"/>
          </a:xfrm>
          <a:prstGeom prst="rect">
            <a:avLst/>
          </a:prstGeom>
          <a:noFill/>
          <a:ln/>
        </p:spPr>
        <p:txBody>
          <a:bodyPr wrap="none" lIns="0" tIns="0" rIns="0" bIns="0" rtlCol="0" anchor="t"/>
          <a:lstStyle/>
          <a:p>
            <a:pPr algn="ctr"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Missing Values</a:t>
            </a:r>
            <a:endParaRPr lang="en-US" sz="1350" dirty="0"/>
          </a:p>
        </p:txBody>
      </p:sp>
      <p:sp>
        <p:nvSpPr>
          <p:cNvPr id="11" name="Text 9"/>
          <p:cNvSpPr/>
          <p:nvPr/>
        </p:nvSpPr>
        <p:spPr>
          <a:xfrm>
            <a:off x="496119" y="3679106"/>
            <a:ext cx="3987254" cy="226814"/>
          </a:xfrm>
          <a:prstGeom prst="rect">
            <a:avLst/>
          </a:prstGeom>
          <a:noFill/>
          <a:ln/>
        </p:spPr>
        <p:txBody>
          <a:bodyPr wrap="none" lIns="0" tIns="0" rIns="0" bIns="0" rtlCol="0" anchor="t"/>
          <a:lstStyle/>
          <a:p>
            <a:pPr algn="ctr" indent="0" marL="0">
              <a:lnSpc>
                <a:spcPct val="133000"/>
              </a:lnSpc>
              <a:buNone/>
            </a:pPr>
            <a:r>
              <a:rPr lang="en-US" sz="1100" dirty="0">
                <a:solidFill>
                  <a:srgbClr val="5B6E8C"/>
                </a:solidFill>
                <a:latin typeface="Manrope" pitchFamily="34" charset="0"/>
                <a:ea typeface="Manrope" pitchFamily="34" charset="-122"/>
                <a:cs typeface="Manrope" pitchFamily="34" charset="-120"/>
              </a:rPr>
              <a:t>In Review Rating column</a:t>
            </a:r>
            <a:endParaRPr lang="en-US" sz="1100" dirty="0"/>
          </a:p>
        </p:txBody>
      </p:sp>
      <p:sp>
        <p:nvSpPr>
          <p:cNvPr id="12" name="Text 10"/>
          <p:cNvSpPr/>
          <p:nvPr/>
        </p:nvSpPr>
        <p:spPr>
          <a:xfrm>
            <a:off x="4660553" y="2727647"/>
            <a:ext cx="3987329" cy="467841"/>
          </a:xfrm>
          <a:prstGeom prst="rect">
            <a:avLst/>
          </a:prstGeom>
          <a:noFill/>
          <a:ln/>
        </p:spPr>
        <p:txBody>
          <a:bodyPr wrap="none" lIns="0" tIns="0" rIns="0" bIns="0" rtlCol="0" anchor="t"/>
          <a:lstStyle/>
          <a:p>
            <a:pPr algn="ctr" indent="0" marL="0">
              <a:lnSpc>
                <a:spcPct val="83000"/>
              </a:lnSpc>
              <a:buNone/>
            </a:pPr>
            <a:r>
              <a:rPr lang="en-US" sz="3650" dirty="0">
                <a:solidFill>
                  <a:srgbClr val="5B6E8C"/>
                </a:solidFill>
                <a:latin typeface="Alexandria Medium" pitchFamily="34" charset="0"/>
                <a:ea typeface="Alexandria Medium" pitchFamily="34" charset="-122"/>
                <a:cs typeface="Alexandria Medium" pitchFamily="34" charset="-120"/>
              </a:rPr>
              <a:t>25</a:t>
            </a:r>
            <a:endParaRPr lang="en-US" sz="3650" dirty="0"/>
          </a:p>
        </p:txBody>
      </p:sp>
      <p:sp>
        <p:nvSpPr>
          <p:cNvPr id="13" name="Text 11"/>
          <p:cNvSpPr/>
          <p:nvPr/>
        </p:nvSpPr>
        <p:spPr>
          <a:xfrm>
            <a:off x="4660553" y="3372594"/>
            <a:ext cx="3987329" cy="221456"/>
          </a:xfrm>
          <a:prstGeom prst="rect">
            <a:avLst/>
          </a:prstGeom>
          <a:noFill/>
          <a:ln/>
        </p:spPr>
        <p:txBody>
          <a:bodyPr wrap="none" lIns="0" tIns="0" rIns="0" bIns="0" rtlCol="0" anchor="t"/>
          <a:lstStyle/>
          <a:p>
            <a:pPr algn="ctr"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Unique Items</a:t>
            </a:r>
            <a:endParaRPr lang="en-US" sz="1350" dirty="0"/>
          </a:p>
        </p:txBody>
      </p:sp>
      <p:sp>
        <p:nvSpPr>
          <p:cNvPr id="14" name="Text 12"/>
          <p:cNvSpPr/>
          <p:nvPr/>
        </p:nvSpPr>
        <p:spPr>
          <a:xfrm>
            <a:off x="4660553" y="3679106"/>
            <a:ext cx="3987329" cy="226814"/>
          </a:xfrm>
          <a:prstGeom prst="rect">
            <a:avLst/>
          </a:prstGeom>
          <a:noFill/>
          <a:ln/>
        </p:spPr>
        <p:txBody>
          <a:bodyPr wrap="none" lIns="0" tIns="0" rIns="0" bIns="0" rtlCol="0" anchor="t"/>
          <a:lstStyle/>
          <a:p>
            <a:pPr algn="ctr" indent="0" marL="0">
              <a:lnSpc>
                <a:spcPct val="133000"/>
              </a:lnSpc>
              <a:buNone/>
            </a:pPr>
            <a:r>
              <a:rPr lang="en-US" sz="1100" dirty="0">
                <a:solidFill>
                  <a:srgbClr val="5B6E8C"/>
                </a:solidFill>
                <a:latin typeface="Manrope" pitchFamily="34" charset="0"/>
                <a:ea typeface="Manrope" pitchFamily="34" charset="-122"/>
                <a:cs typeface="Manrope" pitchFamily="34" charset="-120"/>
              </a:rPr>
              <a:t>Across 4 categories</a:t>
            </a:r>
            <a:endParaRPr lang="en-US" sz="1100" dirty="0"/>
          </a:p>
        </p:txBody>
      </p:sp>
      <p:sp>
        <p:nvSpPr>
          <p:cNvPr id="15" name="Text 13"/>
          <p:cNvSpPr/>
          <p:nvPr/>
        </p:nvSpPr>
        <p:spPr>
          <a:xfrm>
            <a:off x="496119" y="4065389"/>
            <a:ext cx="8151763" cy="680442"/>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Key features include customer demographics (Age, Gender, Location, Subscription Status), purchase details (Item Purchased, Category, Purchase Amount, Season, Size, Color), and shopping behavior (Discount Applied, Previous Purchases, Frequency of Purchases, Review Rating, Shipping Type).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417240"/>
            <a:ext cx="4722763" cy="359941"/>
          </a:xfrm>
          <a:prstGeom prst="rect">
            <a:avLst/>
          </a:prstGeom>
          <a:noFill/>
          <a:ln/>
        </p:spPr>
        <p:txBody>
          <a:bodyPr wrap="none" lIns="0" tIns="0" rIns="0" bIns="0" rtlCol="0" anchor="t"/>
          <a:lstStyle/>
          <a:p>
            <a:pPr algn="l" indent="0" marL="0">
              <a:lnSpc>
                <a:spcPct val="104000"/>
              </a:lnSpc>
              <a:buNone/>
            </a:pPr>
            <a:r>
              <a:rPr lang="en-US" sz="2250" dirty="0">
                <a:solidFill>
                  <a:srgbClr val="5B6E8C"/>
                </a:solidFill>
                <a:latin typeface="Alexandria Medium" pitchFamily="34" charset="0"/>
                <a:ea typeface="Alexandria Medium" pitchFamily="34" charset="-122"/>
                <a:cs typeface="Alexandria Medium" pitchFamily="34" charset="-120"/>
              </a:rPr>
              <a:t>Data Preparation in Python</a:t>
            </a:r>
            <a:endParaRPr lang="en-US" sz="2250" dirty="0"/>
          </a:p>
        </p:txBody>
      </p:sp>
      <p:sp>
        <p:nvSpPr>
          <p:cNvPr id="4" name="Text 1"/>
          <p:cNvSpPr/>
          <p:nvPr/>
        </p:nvSpPr>
        <p:spPr>
          <a:xfrm>
            <a:off x="496119" y="917525"/>
            <a:ext cx="230312" cy="143917"/>
          </a:xfrm>
          <a:prstGeom prst="rect">
            <a:avLst/>
          </a:prstGeom>
          <a:noFill/>
          <a:ln/>
        </p:spPr>
        <p:txBody>
          <a:bodyPr wrap="none" lIns="0" tIns="0" rIns="0" bIns="0" rtlCol="0" anchor="ctr"/>
          <a:lstStyle/>
          <a:p>
            <a:pPr algn="l" indent="0" marL="0">
              <a:lnSpc>
                <a:spcPct val="100000"/>
              </a:lnSpc>
              <a:buNone/>
            </a:pPr>
            <a:r>
              <a:rPr lang="en-US" sz="900" dirty="0">
                <a:solidFill>
                  <a:srgbClr val="5B6E8C"/>
                </a:solidFill>
                <a:latin typeface="Alexandria Light" pitchFamily="34" charset="0"/>
                <a:ea typeface="Alexandria Light" pitchFamily="34" charset="-122"/>
                <a:cs typeface="Alexandria Light" pitchFamily="34" charset="-120"/>
              </a:rPr>
              <a:t>01</a:t>
            </a:r>
            <a:endParaRPr lang="en-US" sz="900" dirty="0"/>
          </a:p>
        </p:txBody>
      </p:sp>
      <p:sp>
        <p:nvSpPr>
          <p:cNvPr id="5" name="Shape 2"/>
          <p:cNvSpPr/>
          <p:nvPr/>
        </p:nvSpPr>
        <p:spPr>
          <a:xfrm>
            <a:off x="496119" y="1098872"/>
            <a:ext cx="4722763" cy="14288"/>
          </a:xfrm>
          <a:prstGeom prst="rect">
            <a:avLst/>
          </a:prstGeom>
          <a:solidFill>
            <a:srgbClr val="D4CCFA"/>
          </a:solidFill>
          <a:ln/>
        </p:spPr>
      </p:sp>
      <p:sp>
        <p:nvSpPr>
          <p:cNvPr id="6" name="Text 3"/>
          <p:cNvSpPr/>
          <p:nvPr/>
        </p:nvSpPr>
        <p:spPr>
          <a:xfrm>
            <a:off x="496119" y="1184970"/>
            <a:ext cx="4722763" cy="179933"/>
          </a:xfrm>
          <a:prstGeom prst="rect">
            <a:avLst/>
          </a:prstGeom>
          <a:noFill/>
          <a:ln/>
        </p:spPr>
        <p:txBody>
          <a:bodyPr wrap="none" lIns="0" tIns="0" rIns="0" bIns="0" rtlCol="0" anchor="t"/>
          <a:lstStyle/>
          <a:p>
            <a:pPr algn="l" indent="0" marL="0">
              <a:lnSpc>
                <a:spcPct val="104000"/>
              </a:lnSpc>
              <a:buNone/>
            </a:pPr>
            <a:r>
              <a:rPr lang="en-US" sz="1100" dirty="0">
                <a:solidFill>
                  <a:srgbClr val="5B6E8C"/>
                </a:solidFill>
                <a:latin typeface="Alexandria Medium" pitchFamily="34" charset="0"/>
                <a:ea typeface="Alexandria Medium" pitchFamily="34" charset="-122"/>
                <a:cs typeface="Alexandria Medium" pitchFamily="34" charset="-120"/>
              </a:rPr>
              <a:t>Loading &amp; Exploration</a:t>
            </a:r>
            <a:endParaRPr lang="en-US" sz="1100" dirty="0"/>
          </a:p>
        </p:txBody>
      </p:sp>
      <p:sp>
        <p:nvSpPr>
          <p:cNvPr id="7" name="Text 4"/>
          <p:cNvSpPr/>
          <p:nvPr/>
        </p:nvSpPr>
        <p:spPr>
          <a:xfrm>
            <a:off x="496119" y="1421011"/>
            <a:ext cx="4722763" cy="333970"/>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Imported dataset via </a:t>
            </a:r>
            <a:pPr algn="l" indent="0" marL="0">
              <a:lnSpc>
                <a:spcPct val="121000"/>
              </a:lnSpc>
              <a:buNone/>
            </a:pPr>
            <a:r>
              <a:rPr lang="en-US" sz="900" dirty="0">
                <a:solidFill>
                  <a:srgbClr val="5B6E8C"/>
                </a:solidFill>
                <a:highlight>
                  <a:srgbClr val="F2F2F2"/>
                </a:highlight>
                <a:latin typeface="Consolas" pitchFamily="34" charset="0"/>
                <a:ea typeface="Consolas" pitchFamily="34" charset="-122"/>
                <a:cs typeface="Consolas" pitchFamily="34" charset="-120"/>
              </a:rPr>
              <a:t>pandas</a:t>
            </a:r>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 used </a:t>
            </a:r>
            <a:pPr algn="l" indent="0" marL="0">
              <a:lnSpc>
                <a:spcPct val="121000"/>
              </a:lnSpc>
              <a:buNone/>
            </a:pPr>
            <a:r>
              <a:rPr lang="en-US" sz="900" dirty="0">
                <a:solidFill>
                  <a:srgbClr val="5B6E8C"/>
                </a:solidFill>
                <a:highlight>
                  <a:srgbClr val="F2F2F2"/>
                </a:highlight>
                <a:latin typeface="Consolas" pitchFamily="34" charset="0"/>
                <a:ea typeface="Consolas" pitchFamily="34" charset="-122"/>
                <a:cs typeface="Consolas" pitchFamily="34" charset="-120"/>
              </a:rPr>
              <a:t>df.info()</a:t>
            </a:r>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 and </a:t>
            </a:r>
            <a:pPr algn="l" indent="0" marL="0">
              <a:lnSpc>
                <a:spcPct val="121000"/>
              </a:lnSpc>
              <a:buNone/>
            </a:pPr>
            <a:r>
              <a:rPr lang="en-US" sz="900" dirty="0">
                <a:solidFill>
                  <a:srgbClr val="5B6E8C"/>
                </a:solidFill>
                <a:highlight>
                  <a:srgbClr val="F2F2F2"/>
                </a:highlight>
                <a:latin typeface="Consolas" pitchFamily="34" charset="0"/>
                <a:ea typeface="Consolas" pitchFamily="34" charset="-122"/>
                <a:cs typeface="Consolas" pitchFamily="34" charset="-120"/>
              </a:rPr>
              <a:t>.describe()</a:t>
            </a:r>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 for structure and summary statistics</a:t>
            </a:r>
            <a:endParaRPr lang="en-US" sz="900" dirty="0"/>
          </a:p>
        </p:txBody>
      </p:sp>
      <p:sp>
        <p:nvSpPr>
          <p:cNvPr id="8" name="Text 5"/>
          <p:cNvSpPr/>
          <p:nvPr/>
        </p:nvSpPr>
        <p:spPr>
          <a:xfrm>
            <a:off x="496119" y="1934840"/>
            <a:ext cx="230312" cy="143917"/>
          </a:xfrm>
          <a:prstGeom prst="rect">
            <a:avLst/>
          </a:prstGeom>
          <a:noFill/>
          <a:ln/>
        </p:spPr>
        <p:txBody>
          <a:bodyPr wrap="none" lIns="0" tIns="0" rIns="0" bIns="0" rtlCol="0" anchor="ctr"/>
          <a:lstStyle/>
          <a:p>
            <a:pPr algn="l" indent="0" marL="0">
              <a:lnSpc>
                <a:spcPct val="100000"/>
              </a:lnSpc>
              <a:buNone/>
            </a:pPr>
            <a:r>
              <a:rPr lang="en-US" sz="900" dirty="0">
                <a:solidFill>
                  <a:srgbClr val="5B6E8C"/>
                </a:solidFill>
                <a:latin typeface="Alexandria Light" pitchFamily="34" charset="0"/>
                <a:ea typeface="Alexandria Light" pitchFamily="34" charset="-122"/>
                <a:cs typeface="Alexandria Light" pitchFamily="34" charset="-120"/>
              </a:rPr>
              <a:t>02</a:t>
            </a:r>
            <a:endParaRPr lang="en-US" sz="900" dirty="0"/>
          </a:p>
        </p:txBody>
      </p:sp>
      <p:sp>
        <p:nvSpPr>
          <p:cNvPr id="9" name="Shape 6"/>
          <p:cNvSpPr/>
          <p:nvPr/>
        </p:nvSpPr>
        <p:spPr>
          <a:xfrm>
            <a:off x="496119" y="2104653"/>
            <a:ext cx="4722763" cy="14288"/>
          </a:xfrm>
          <a:prstGeom prst="rect">
            <a:avLst/>
          </a:prstGeom>
          <a:solidFill>
            <a:srgbClr val="D4CCFA"/>
          </a:solidFill>
          <a:ln/>
        </p:spPr>
      </p:sp>
      <p:sp>
        <p:nvSpPr>
          <p:cNvPr id="10" name="Text 7"/>
          <p:cNvSpPr/>
          <p:nvPr/>
        </p:nvSpPr>
        <p:spPr>
          <a:xfrm>
            <a:off x="496119" y="2202284"/>
            <a:ext cx="4722763" cy="179933"/>
          </a:xfrm>
          <a:prstGeom prst="rect">
            <a:avLst/>
          </a:prstGeom>
          <a:noFill/>
          <a:ln/>
        </p:spPr>
        <p:txBody>
          <a:bodyPr wrap="none" lIns="0" tIns="0" rIns="0" bIns="0" rtlCol="0" anchor="t"/>
          <a:lstStyle/>
          <a:p>
            <a:pPr algn="l" indent="0" marL="0">
              <a:lnSpc>
                <a:spcPct val="104000"/>
              </a:lnSpc>
              <a:buNone/>
            </a:pPr>
            <a:r>
              <a:rPr lang="en-US" sz="1100" dirty="0">
                <a:solidFill>
                  <a:srgbClr val="5B6E8C"/>
                </a:solidFill>
                <a:latin typeface="Alexandria Medium" pitchFamily="34" charset="0"/>
                <a:ea typeface="Alexandria Medium" pitchFamily="34" charset="-122"/>
                <a:cs typeface="Alexandria Medium" pitchFamily="34" charset="-120"/>
              </a:rPr>
              <a:t>Missing Data Handling</a:t>
            </a:r>
            <a:endParaRPr lang="en-US" sz="1100" dirty="0"/>
          </a:p>
        </p:txBody>
      </p:sp>
      <p:sp>
        <p:nvSpPr>
          <p:cNvPr id="11" name="Text 8"/>
          <p:cNvSpPr/>
          <p:nvPr/>
        </p:nvSpPr>
        <p:spPr>
          <a:xfrm>
            <a:off x="496119" y="2438326"/>
            <a:ext cx="4722763" cy="333970"/>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Imputed 37 missing Review Rating values using the median rating of each product category</a:t>
            </a:r>
            <a:endParaRPr lang="en-US" sz="900" dirty="0"/>
          </a:p>
        </p:txBody>
      </p:sp>
      <p:sp>
        <p:nvSpPr>
          <p:cNvPr id="12" name="Text 9"/>
          <p:cNvSpPr/>
          <p:nvPr/>
        </p:nvSpPr>
        <p:spPr>
          <a:xfrm>
            <a:off x="496119" y="2952155"/>
            <a:ext cx="230312" cy="143917"/>
          </a:xfrm>
          <a:prstGeom prst="rect">
            <a:avLst/>
          </a:prstGeom>
          <a:noFill/>
          <a:ln/>
        </p:spPr>
        <p:txBody>
          <a:bodyPr wrap="none" lIns="0" tIns="0" rIns="0" bIns="0" rtlCol="0" anchor="ctr"/>
          <a:lstStyle/>
          <a:p>
            <a:pPr algn="l" indent="0" marL="0">
              <a:lnSpc>
                <a:spcPct val="100000"/>
              </a:lnSpc>
              <a:buNone/>
            </a:pPr>
            <a:r>
              <a:rPr lang="en-US" sz="900" dirty="0">
                <a:solidFill>
                  <a:srgbClr val="5B6E8C"/>
                </a:solidFill>
                <a:latin typeface="Alexandria Light" pitchFamily="34" charset="0"/>
                <a:ea typeface="Alexandria Light" pitchFamily="34" charset="-122"/>
                <a:cs typeface="Alexandria Light" pitchFamily="34" charset="-120"/>
              </a:rPr>
              <a:t>03</a:t>
            </a:r>
            <a:endParaRPr lang="en-US" sz="900" dirty="0"/>
          </a:p>
        </p:txBody>
      </p:sp>
      <p:sp>
        <p:nvSpPr>
          <p:cNvPr id="13" name="Shape 10"/>
          <p:cNvSpPr/>
          <p:nvPr/>
        </p:nvSpPr>
        <p:spPr>
          <a:xfrm>
            <a:off x="496119" y="3110508"/>
            <a:ext cx="4722763" cy="14288"/>
          </a:xfrm>
          <a:prstGeom prst="rect">
            <a:avLst/>
          </a:prstGeom>
          <a:solidFill>
            <a:srgbClr val="D4CCFA"/>
          </a:solidFill>
          <a:ln/>
        </p:spPr>
      </p:sp>
      <p:sp>
        <p:nvSpPr>
          <p:cNvPr id="14" name="Text 11"/>
          <p:cNvSpPr/>
          <p:nvPr/>
        </p:nvSpPr>
        <p:spPr>
          <a:xfrm>
            <a:off x="496119" y="3219599"/>
            <a:ext cx="4722763" cy="179933"/>
          </a:xfrm>
          <a:prstGeom prst="rect">
            <a:avLst/>
          </a:prstGeom>
          <a:noFill/>
          <a:ln/>
        </p:spPr>
        <p:txBody>
          <a:bodyPr wrap="none" lIns="0" tIns="0" rIns="0" bIns="0" rtlCol="0" anchor="t"/>
          <a:lstStyle/>
          <a:p>
            <a:pPr algn="l" indent="0" marL="0">
              <a:lnSpc>
                <a:spcPct val="104000"/>
              </a:lnSpc>
              <a:buNone/>
            </a:pPr>
            <a:r>
              <a:rPr lang="en-US" sz="1100" dirty="0">
                <a:solidFill>
                  <a:srgbClr val="5B6E8C"/>
                </a:solidFill>
                <a:latin typeface="Alexandria Medium" pitchFamily="34" charset="0"/>
                <a:ea typeface="Alexandria Medium" pitchFamily="34" charset="-122"/>
                <a:cs typeface="Alexandria Medium" pitchFamily="34" charset="-120"/>
              </a:rPr>
              <a:t>Feature Engineering</a:t>
            </a:r>
            <a:endParaRPr lang="en-US" sz="1100" dirty="0"/>
          </a:p>
        </p:txBody>
      </p:sp>
      <p:sp>
        <p:nvSpPr>
          <p:cNvPr id="15" name="Text 12"/>
          <p:cNvSpPr/>
          <p:nvPr/>
        </p:nvSpPr>
        <p:spPr>
          <a:xfrm>
            <a:off x="496119" y="3455640"/>
            <a:ext cx="4722763" cy="333970"/>
          </a:xfrm>
          <a:prstGeom prst="rect">
            <a:avLst/>
          </a:prstGeom>
          <a:noFill/>
          <a:ln/>
        </p:spPr>
        <p:txBody>
          <a:bodyPr wrap="square" lIns="0" tIns="0" rIns="0" bIns="0" rtlCol="0" anchor="t">
            <a:normAutofit/>
          </a:bodyPr>
          <a:lstStyle/>
          <a:p>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Created </a:t>
            </a:r>
            <a:pPr algn="l" indent="0" marL="0">
              <a:lnSpc>
                <a:spcPct val="121000"/>
              </a:lnSpc>
              <a:buNone/>
            </a:pPr>
            <a:r>
              <a:rPr lang="en-US" sz="900" dirty="0">
                <a:solidFill>
                  <a:srgbClr val="5B6E8C"/>
                </a:solidFill>
                <a:highlight>
                  <a:srgbClr val="F2F2F2"/>
                </a:highlight>
                <a:latin typeface="Consolas" pitchFamily="34" charset="0"/>
                <a:ea typeface="Consolas" pitchFamily="34" charset="-122"/>
                <a:cs typeface="Consolas" pitchFamily="34" charset="-120"/>
              </a:rPr>
              <a:t>age_group</a:t>
            </a:r>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 by binning ages; created </a:t>
            </a:r>
            <a:pPr algn="l" indent="0" marL="0">
              <a:lnSpc>
                <a:spcPct val="121000"/>
              </a:lnSpc>
              <a:buNone/>
            </a:pPr>
            <a:r>
              <a:rPr lang="en-US" sz="900" dirty="0">
                <a:solidFill>
                  <a:srgbClr val="5B6E8C"/>
                </a:solidFill>
                <a:highlight>
                  <a:srgbClr val="F2F2F2"/>
                </a:highlight>
                <a:latin typeface="Consolas" pitchFamily="34" charset="0"/>
                <a:ea typeface="Consolas" pitchFamily="34" charset="-122"/>
                <a:cs typeface="Consolas" pitchFamily="34" charset="-120"/>
              </a:rPr>
              <a:t>purchase_frequency_days</a:t>
            </a:r>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 from purchase data; renamed columns to snake_case; dropped redundant </a:t>
            </a:r>
            <a:pPr algn="l" indent="0" marL="0">
              <a:lnSpc>
                <a:spcPct val="121000"/>
              </a:lnSpc>
              <a:buNone/>
            </a:pPr>
            <a:r>
              <a:rPr lang="en-US" sz="900" dirty="0">
                <a:solidFill>
                  <a:srgbClr val="5B6E8C"/>
                </a:solidFill>
                <a:highlight>
                  <a:srgbClr val="F2F2F2"/>
                </a:highlight>
                <a:latin typeface="Consolas" pitchFamily="34" charset="0"/>
                <a:ea typeface="Consolas" pitchFamily="34" charset="-122"/>
                <a:cs typeface="Consolas" pitchFamily="34" charset="-120"/>
              </a:rPr>
              <a:t>promo_code_used</a:t>
            </a:r>
            <a:endParaRPr lang="en-US" sz="900" dirty="0"/>
          </a:p>
        </p:txBody>
      </p:sp>
      <p:sp>
        <p:nvSpPr>
          <p:cNvPr id="16" name="Text 13"/>
          <p:cNvSpPr/>
          <p:nvPr/>
        </p:nvSpPr>
        <p:spPr>
          <a:xfrm>
            <a:off x="496119" y="3969469"/>
            <a:ext cx="230312" cy="143917"/>
          </a:xfrm>
          <a:prstGeom prst="rect">
            <a:avLst/>
          </a:prstGeom>
          <a:noFill/>
          <a:ln/>
        </p:spPr>
        <p:txBody>
          <a:bodyPr wrap="none" lIns="0" tIns="0" rIns="0" bIns="0" rtlCol="0" anchor="ctr"/>
          <a:lstStyle/>
          <a:p>
            <a:pPr algn="l" indent="0" marL="0">
              <a:lnSpc>
                <a:spcPct val="100000"/>
              </a:lnSpc>
              <a:buNone/>
            </a:pPr>
            <a:r>
              <a:rPr lang="en-US" sz="900" dirty="0">
                <a:solidFill>
                  <a:srgbClr val="5B6E8C"/>
                </a:solidFill>
                <a:latin typeface="Alexandria Light" pitchFamily="34" charset="0"/>
                <a:ea typeface="Alexandria Light" pitchFamily="34" charset="-122"/>
                <a:cs typeface="Alexandria Light" pitchFamily="34" charset="-120"/>
              </a:rPr>
              <a:t>04</a:t>
            </a:r>
            <a:endParaRPr lang="en-US" sz="900" dirty="0"/>
          </a:p>
        </p:txBody>
      </p:sp>
      <p:sp>
        <p:nvSpPr>
          <p:cNvPr id="17" name="Shape 14"/>
          <p:cNvSpPr/>
          <p:nvPr/>
        </p:nvSpPr>
        <p:spPr>
          <a:xfrm>
            <a:off x="496119" y="4116288"/>
            <a:ext cx="4722763" cy="14288"/>
          </a:xfrm>
          <a:prstGeom prst="rect">
            <a:avLst/>
          </a:prstGeom>
          <a:solidFill>
            <a:srgbClr val="D4CCFA"/>
          </a:solidFill>
          <a:ln/>
        </p:spPr>
      </p:sp>
      <p:sp>
        <p:nvSpPr>
          <p:cNvPr id="18" name="Text 15"/>
          <p:cNvSpPr/>
          <p:nvPr/>
        </p:nvSpPr>
        <p:spPr>
          <a:xfrm>
            <a:off x="496119" y="4236913"/>
            <a:ext cx="4722763" cy="179933"/>
          </a:xfrm>
          <a:prstGeom prst="rect">
            <a:avLst/>
          </a:prstGeom>
          <a:noFill/>
          <a:ln/>
        </p:spPr>
        <p:txBody>
          <a:bodyPr wrap="none" lIns="0" tIns="0" rIns="0" bIns="0" rtlCol="0" anchor="t"/>
          <a:lstStyle/>
          <a:p>
            <a:pPr algn="l" indent="0" marL="0">
              <a:lnSpc>
                <a:spcPct val="104000"/>
              </a:lnSpc>
              <a:buNone/>
            </a:pPr>
            <a:r>
              <a:rPr lang="en-US" sz="1100" dirty="0">
                <a:solidFill>
                  <a:srgbClr val="5B6E8C"/>
                </a:solidFill>
                <a:latin typeface="Alexandria Medium" pitchFamily="34" charset="0"/>
                <a:ea typeface="Alexandria Medium" pitchFamily="34" charset="-122"/>
                <a:cs typeface="Alexandria Medium" pitchFamily="34" charset="-120"/>
              </a:rPr>
              <a:t>Database Integration</a:t>
            </a:r>
            <a:endParaRPr lang="en-US" sz="1100" dirty="0"/>
          </a:p>
        </p:txBody>
      </p:sp>
      <p:sp>
        <p:nvSpPr>
          <p:cNvPr id="19" name="Text 16"/>
          <p:cNvSpPr/>
          <p:nvPr/>
        </p:nvSpPr>
        <p:spPr>
          <a:xfrm>
            <a:off x="496119" y="4472955"/>
            <a:ext cx="4722763" cy="166985"/>
          </a:xfrm>
          <a:prstGeom prst="rect">
            <a:avLst/>
          </a:prstGeom>
          <a:noFill/>
          <a:ln/>
        </p:spPr>
        <p:txBody>
          <a:bodyPr wrap="none" lIns="0" tIns="0" rIns="0" bIns="0" rtlCol="0" anchor="t"/>
          <a:lstStyle/>
          <a:p>
            <a:pPr algn="l" indent="0" marL="0">
              <a:lnSpc>
                <a:spcPct val="121000"/>
              </a:lnSpc>
              <a:buNone/>
            </a:pPr>
            <a:r>
              <a:rPr lang="en-US" sz="900" dirty="0">
                <a:solidFill>
                  <a:srgbClr val="5B6E8C"/>
                </a:solidFill>
                <a:latin typeface="Manrope" pitchFamily="34" charset="0"/>
                <a:ea typeface="Manrope" pitchFamily="34" charset="-122"/>
                <a:cs typeface="Manrope" pitchFamily="34" charset="-120"/>
              </a:rPr>
              <a:t>Loaded cleaned DataFrame into PostgreSQL for SQL analysis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67977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Revenue by Gender</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Key Finding</a:t>
            </a:r>
            <a:endParaRPr lang="en-US" sz="1350" dirty="0"/>
          </a:p>
        </p:txBody>
      </p:sp>
      <p:sp>
        <p:nvSpPr>
          <p:cNvPr id="5" name="Text 2"/>
          <p:cNvSpPr/>
          <p:nvPr/>
        </p:nvSpPr>
        <p:spPr>
          <a:xfrm>
            <a:off x="4749701" y="1840334"/>
            <a:ext cx="3902943" cy="1261616"/>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Male customers generated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$157,890</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 in revenue — more than double the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$75,191</a:t>
            </a:r>
            <a:pPr algn="l" indent="0" marL="0">
              <a:lnSpc>
                <a:spcPct val="133000"/>
              </a:lnSpc>
              <a:spcAft>
                <a:spcPts val="1000"/>
              </a:spcAft>
              <a:buNone/>
            </a:pPr>
            <a:r>
              <a:rPr lang="en-US" sz="1100" dirty="0">
                <a:solidFill>
                  <a:srgbClr val="5B6E8C"/>
                </a:solidFill>
                <a:latin typeface="Manrope" pitchFamily="34" charset="0"/>
                <a:ea typeface="Manrope" pitchFamily="34" charset="-122"/>
                <a:cs typeface="Manrope" pitchFamily="34" charset="-120"/>
              </a:rPr>
              <a:t> from female customers.</a:t>
            </a:r>
            <a:endParaRPr lang="en-US" sz="1100" dirty="0"/>
          </a:p>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Male shoppers also comprised the majority of the customer base at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2,652 out of 3,900</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 transactions, compared to 1,248 female transactions.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9820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Product Ratings &amp; Discount Patterns</a:t>
            </a:r>
            <a:endParaRPr lang="en-US" sz="2750" dirty="0"/>
          </a:p>
        </p:txBody>
      </p:sp>
      <p:sp>
        <p:nvSpPr>
          <p:cNvPr id="3" name="Text 1"/>
          <p:cNvSpPr/>
          <p:nvPr/>
        </p:nvSpPr>
        <p:spPr>
          <a:xfrm>
            <a:off x="496119" y="1295549"/>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Top 5 Products by Review Rating</a:t>
            </a:r>
            <a:endParaRPr lang="en-US" sz="1350" dirty="0"/>
          </a:p>
        </p:txBody>
      </p:sp>
      <p:pic>
        <p:nvPicPr>
          <p:cNvPr id="4" name="Image 0" descr="preencoded.png">    </p:cNvPr>
          <p:cNvPicPr>
            <a:picLocks noChangeAspect="1"/>
          </p:cNvPicPr>
          <p:nvPr/>
        </p:nvPicPr>
        <p:blipFill>
          <a:blip r:embed="rId1"/>
          <a:stretch>
            <a:fillRect/>
          </a:stretch>
        </p:blipFill>
        <p:spPr>
          <a:xfrm>
            <a:off x="496119" y="1676474"/>
            <a:ext cx="3902943" cy="2809354"/>
          </a:xfrm>
          <a:prstGeom prst="rect">
            <a:avLst/>
          </a:prstGeom>
        </p:spPr>
      </p:pic>
      <p:sp>
        <p:nvSpPr>
          <p:cNvPr id="5" name="Text 2"/>
          <p:cNvSpPr/>
          <p:nvPr/>
        </p:nvSpPr>
        <p:spPr>
          <a:xfrm>
            <a:off x="4749701" y="1295549"/>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Discount-Dependent Products</a:t>
            </a:r>
            <a:endParaRPr lang="en-US" sz="1350" dirty="0"/>
          </a:p>
        </p:txBody>
      </p:sp>
      <p:sp>
        <p:nvSpPr>
          <p:cNvPr id="6" name="Text 3"/>
          <p:cNvSpPr/>
          <p:nvPr/>
        </p:nvSpPr>
        <p:spPr>
          <a:xfrm>
            <a:off x="4749701" y="1658764"/>
            <a:ext cx="390294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Products with the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highest percentage of discounted purchases</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a:t>
            </a:r>
            <a:endParaRPr lang="en-US" sz="1100" dirty="0"/>
          </a:p>
        </p:txBody>
      </p:sp>
      <p:sp>
        <p:nvSpPr>
          <p:cNvPr id="7" name="Text 4"/>
          <p:cNvSpPr/>
          <p:nvPr/>
        </p:nvSpPr>
        <p:spPr>
          <a:xfrm>
            <a:off x="4749701" y="2239938"/>
            <a:ext cx="3902943" cy="1332309"/>
          </a:xfrm>
          <a:prstGeom prst="rect">
            <a:avLst/>
          </a:prstGeom>
          <a:noFill/>
          <a:ln/>
        </p:spPr>
        <p:txBody>
          <a:bodyPr wrap="square" lIns="0" tIns="0" rIns="0" bIns="0" rtlCol="0" anchor="t">
            <a:normAutofit/>
          </a:bodyPr>
          <a:lstStyle/>
          <a:p>
            <a:pPr algn="l" marL="223520" indent="-223520">
              <a:lnSpc>
                <a:spcPct val="133000"/>
              </a:lnSpc>
              <a:buSzPct val="100000"/>
              <a:buFont typeface="+mj-lt"/>
              <a:buAutoNum type="arabicPeriod" startAt="1"/>
            </a:pPr>
            <a:r>
              <a:rPr lang="en-US" sz="1100" dirty="0">
                <a:solidFill>
                  <a:srgbClr val="5B6E8C"/>
                </a:solidFill>
                <a:latin typeface="Manrope" pitchFamily="34" charset="0"/>
                <a:ea typeface="Manrope" pitchFamily="34" charset="-122"/>
                <a:cs typeface="Manrope" pitchFamily="34" charset="-120"/>
              </a:rPr>
              <a:t>Hat — 50.00%</a:t>
            </a:r>
            <a:endParaRPr lang="en-US" sz="1100" dirty="0"/>
          </a:p>
          <a:p>
            <a:pPr algn="l" marL="223520" indent="-223520">
              <a:lnSpc>
                <a:spcPct val="133000"/>
              </a:lnSpc>
              <a:buSzPct val="100000"/>
              <a:buFont typeface="+mj-lt"/>
              <a:buAutoNum type="arabicPeriod" startAt="2"/>
            </a:pPr>
            <a:r>
              <a:rPr lang="en-US" sz="1100" dirty="0">
                <a:solidFill>
                  <a:srgbClr val="5B6E8C"/>
                </a:solidFill>
                <a:latin typeface="Manrope" pitchFamily="34" charset="0"/>
                <a:ea typeface="Manrope" pitchFamily="34" charset="-122"/>
                <a:cs typeface="Manrope" pitchFamily="34" charset="-120"/>
              </a:rPr>
              <a:t>Sneakers — 49.66%</a:t>
            </a:r>
            <a:endParaRPr lang="en-US" sz="1100" dirty="0"/>
          </a:p>
          <a:p>
            <a:pPr algn="l" marL="223520" indent="-223520">
              <a:lnSpc>
                <a:spcPct val="133000"/>
              </a:lnSpc>
              <a:buSzPct val="100000"/>
              <a:buFont typeface="+mj-lt"/>
              <a:buAutoNum type="arabicPeriod" startAt="3"/>
            </a:pPr>
            <a:r>
              <a:rPr lang="en-US" sz="1100" dirty="0">
                <a:solidFill>
                  <a:srgbClr val="5B6E8C"/>
                </a:solidFill>
                <a:latin typeface="Manrope" pitchFamily="34" charset="0"/>
                <a:ea typeface="Manrope" pitchFamily="34" charset="-122"/>
                <a:cs typeface="Manrope" pitchFamily="34" charset="-120"/>
              </a:rPr>
              <a:t>Coat — 49.07%</a:t>
            </a:r>
            <a:endParaRPr lang="en-US" sz="1100" dirty="0"/>
          </a:p>
          <a:p>
            <a:pPr algn="l" marL="223520" indent="-223520">
              <a:lnSpc>
                <a:spcPct val="133000"/>
              </a:lnSpc>
              <a:buSzPct val="100000"/>
              <a:buFont typeface="+mj-lt"/>
              <a:buAutoNum type="arabicPeriod" startAt="4"/>
            </a:pPr>
            <a:r>
              <a:rPr lang="en-US" sz="1100" dirty="0">
                <a:solidFill>
                  <a:srgbClr val="5B6E8C"/>
                </a:solidFill>
                <a:latin typeface="Manrope" pitchFamily="34" charset="0"/>
                <a:ea typeface="Manrope" pitchFamily="34" charset="-122"/>
                <a:cs typeface="Manrope" pitchFamily="34" charset="-120"/>
              </a:rPr>
              <a:t>Sweater — 48.17%</a:t>
            </a:r>
            <a:endParaRPr lang="en-US" sz="1100" dirty="0"/>
          </a:p>
          <a:p>
            <a:pPr algn="l" marL="223520" indent="-223520">
              <a:lnSpc>
                <a:spcPct val="133000"/>
              </a:lnSpc>
              <a:buSzPct val="100000"/>
              <a:buFont typeface="+mj-lt"/>
              <a:buAutoNum type="arabicPeriod" startAt="5"/>
            </a:pPr>
            <a:r>
              <a:rPr lang="en-US" sz="1100" dirty="0">
                <a:solidFill>
                  <a:srgbClr val="5B6E8C"/>
                </a:solidFill>
                <a:latin typeface="Manrope" pitchFamily="34" charset="0"/>
                <a:ea typeface="Manrope" pitchFamily="34" charset="-122"/>
                <a:cs typeface="Manrope" pitchFamily="34" charset="-120"/>
              </a:rPr>
              <a:t>Pants — 47.37%</a:t>
            </a:r>
            <a:endParaRPr lang="en-US" sz="1100" dirty="0"/>
          </a:p>
        </p:txBody>
      </p:sp>
      <p:sp>
        <p:nvSpPr>
          <p:cNvPr id="8" name="Text 5"/>
          <p:cNvSpPr/>
          <p:nvPr/>
        </p:nvSpPr>
        <p:spPr>
          <a:xfrm>
            <a:off x="4749701" y="3699793"/>
            <a:ext cx="3902943" cy="453628"/>
          </a:xfrm>
          <a:prstGeom prst="rect">
            <a:avLst/>
          </a:prstGeom>
          <a:noFill/>
          <a:ln/>
        </p:spPr>
        <p:txBody>
          <a:bodyPr wrap="square" lIns="0" tIns="0" rIns="0" bIns="0" rtlCol="0" anchor="t">
            <a:normAutofit/>
          </a:bodyPr>
          <a:lstStyle/>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These five products rely most heavily on discounts to drive sales.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67977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Subscribers vs. Non-Subscribers</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Key Insights</a:t>
            </a:r>
            <a:endParaRPr lang="en-US" sz="1350" dirty="0"/>
          </a:p>
        </p:txBody>
      </p:sp>
      <p:sp>
        <p:nvSpPr>
          <p:cNvPr id="5" name="Text 2"/>
          <p:cNvSpPr/>
          <p:nvPr/>
        </p:nvSpPr>
        <p:spPr>
          <a:xfrm>
            <a:off x="4749701" y="1840334"/>
            <a:ext cx="3902943" cy="1842790"/>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73%</a:t>
            </a:r>
            <a:pPr algn="l" indent="0" marL="0">
              <a:lnSpc>
                <a:spcPct val="133000"/>
              </a:lnSpc>
              <a:spcAft>
                <a:spcPts val="1000"/>
              </a:spcAft>
              <a:buNone/>
            </a:pPr>
            <a:r>
              <a:rPr lang="en-US" sz="1100" dirty="0">
                <a:solidFill>
                  <a:srgbClr val="5B6E8C"/>
                </a:solidFill>
                <a:latin typeface="Manrope" pitchFamily="34" charset="0"/>
                <a:ea typeface="Manrope" pitchFamily="34" charset="-122"/>
                <a:cs typeface="Manrope" pitchFamily="34" charset="-120"/>
              </a:rPr>
              <a:t> of customers are non-subscribers (2,847) vs. 27% subscribers (1,053).</a:t>
            </a:r>
            <a:endParaRPr lang="en-US" sz="1100" dirty="0"/>
          </a:p>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Average spend is nearly identical: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$59.87</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 (non-subscribers) vs.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$59.49</a:t>
            </a:r>
            <a:pPr algn="l" indent="0" marL="0">
              <a:lnSpc>
                <a:spcPct val="133000"/>
              </a:lnSpc>
              <a:spcAft>
                <a:spcPts val="1000"/>
              </a:spcAft>
              <a:buNone/>
            </a:pPr>
            <a:r>
              <a:rPr lang="en-US" sz="1100" dirty="0">
                <a:solidFill>
                  <a:srgbClr val="5B6E8C"/>
                </a:solidFill>
                <a:latin typeface="Manrope" pitchFamily="34" charset="0"/>
                <a:ea typeface="Manrope" pitchFamily="34" charset="-122"/>
                <a:cs typeface="Manrope" pitchFamily="34" charset="-120"/>
              </a:rPr>
              <a:t> (subscribers).</a:t>
            </a:r>
            <a:endParaRPr lang="en-US" sz="1100" dirty="0"/>
          </a:p>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However,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958 repeat buyers</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 (customers with more than 5 purchases) hold subscriptions, suggesting strong potential for converting frequent shoppers.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893043"/>
            <a:ext cx="4722763" cy="442987"/>
          </a:xfrm>
          <a:prstGeom prst="rect">
            <a:avLst/>
          </a:prstGeom>
          <a:noFill/>
          <a:ln/>
        </p:spPr>
        <p:txBody>
          <a:bodyPr wrap="none" lIns="0" tIns="0" rIns="0" bIns="0" rtlCol="0" anchor="t"/>
          <a:lstStyle/>
          <a:p>
            <a:pPr algn="l" indent="0" marL="0">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Customer Segmentation</a:t>
            </a:r>
            <a:endParaRPr lang="en-US" sz="2750" dirty="0"/>
          </a:p>
        </p:txBody>
      </p:sp>
      <p:sp>
        <p:nvSpPr>
          <p:cNvPr id="4" name="Shape 1"/>
          <p:cNvSpPr/>
          <p:nvPr/>
        </p:nvSpPr>
        <p:spPr>
          <a:xfrm>
            <a:off x="496119" y="1548631"/>
            <a:ext cx="2290465" cy="1506810"/>
          </a:xfrm>
          <a:prstGeom prst="roundRect">
            <a:avLst>
              <a:gd name="adj" fmla="val 14113"/>
            </a:avLst>
          </a:prstGeom>
          <a:solidFill>
            <a:srgbClr val="E6F7FF"/>
          </a:solidFill>
          <a:ln w="4763">
            <a:solidFill>
              <a:srgbClr val="B3D5E4"/>
            </a:solidFill>
            <a:prstDash val="solid"/>
          </a:ln>
        </p:spPr>
      </p:sp>
      <p:sp>
        <p:nvSpPr>
          <p:cNvPr id="5" name="Text 2"/>
          <p:cNvSpPr/>
          <p:nvPr/>
        </p:nvSpPr>
        <p:spPr>
          <a:xfrm>
            <a:off x="642640" y="1695152"/>
            <a:ext cx="1997422"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000000"/>
                </a:solidFill>
                <a:latin typeface="Alexandria Medium" pitchFamily="34" charset="0"/>
                <a:ea typeface="Alexandria Medium" pitchFamily="34" charset="-122"/>
                <a:cs typeface="Alexandria Medium" pitchFamily="34" charset="-120"/>
              </a:rPr>
              <a:t> Loyal</a:t>
            </a:r>
            <a:endParaRPr lang="en-US" sz="1350" dirty="0"/>
          </a:p>
        </p:txBody>
      </p:sp>
      <p:sp>
        <p:nvSpPr>
          <p:cNvPr id="6" name="Text 3"/>
          <p:cNvSpPr/>
          <p:nvPr/>
        </p:nvSpPr>
        <p:spPr>
          <a:xfrm>
            <a:off x="642640" y="2001664"/>
            <a:ext cx="1997422" cy="907256"/>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000000"/>
                </a:solidFill>
                <a:latin typeface="Manrope Bold" pitchFamily="34" charset="0"/>
                <a:ea typeface="Manrope Bold" pitchFamily="34" charset="-122"/>
                <a:cs typeface="Manrope Bold" pitchFamily="34" charset="-120"/>
              </a:rPr>
              <a:t>3,116 customers</a:t>
            </a:r>
            <a:pPr algn="l" indent="0" marL="0">
              <a:lnSpc>
                <a:spcPct val="133000"/>
              </a:lnSpc>
              <a:buNone/>
            </a:pPr>
            <a:r>
              <a:rPr lang="en-US" sz="1100" dirty="0">
                <a:solidFill>
                  <a:srgbClr val="000000"/>
                </a:solidFill>
                <a:latin typeface="Manrope" pitchFamily="34" charset="0"/>
                <a:ea typeface="Manrope" pitchFamily="34" charset="-122"/>
                <a:cs typeface="Manrope" pitchFamily="34" charset="-120"/>
              </a:rPr>
              <a:t> — the dominant segment, representing the vast majority of the customer base</a:t>
            </a:r>
            <a:endParaRPr lang="en-US" sz="1100" dirty="0"/>
          </a:p>
        </p:txBody>
      </p:sp>
      <p:sp>
        <p:nvSpPr>
          <p:cNvPr id="7" name="Shape 4"/>
          <p:cNvSpPr/>
          <p:nvPr/>
        </p:nvSpPr>
        <p:spPr>
          <a:xfrm>
            <a:off x="2928342" y="1548631"/>
            <a:ext cx="2290539" cy="1506810"/>
          </a:xfrm>
          <a:prstGeom prst="roundRect">
            <a:avLst>
              <a:gd name="adj" fmla="val 14113"/>
            </a:avLst>
          </a:prstGeom>
          <a:solidFill>
            <a:srgbClr val="E6F7FF"/>
          </a:solidFill>
          <a:ln w="4763">
            <a:solidFill>
              <a:srgbClr val="B3D5E4"/>
            </a:solidFill>
            <a:prstDash val="solid"/>
          </a:ln>
        </p:spPr>
      </p:sp>
      <p:sp>
        <p:nvSpPr>
          <p:cNvPr id="8" name="Text 5"/>
          <p:cNvSpPr/>
          <p:nvPr/>
        </p:nvSpPr>
        <p:spPr>
          <a:xfrm>
            <a:off x="3074863" y="1695152"/>
            <a:ext cx="1997497"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000000"/>
                </a:solidFill>
                <a:latin typeface="Alexandria Medium" pitchFamily="34" charset="0"/>
                <a:ea typeface="Alexandria Medium" pitchFamily="34" charset="-122"/>
                <a:cs typeface="Alexandria Medium" pitchFamily="34" charset="-120"/>
              </a:rPr>
              <a:t> Returning</a:t>
            </a:r>
            <a:endParaRPr lang="en-US" sz="1350" dirty="0"/>
          </a:p>
        </p:txBody>
      </p:sp>
      <p:sp>
        <p:nvSpPr>
          <p:cNvPr id="9" name="Text 6"/>
          <p:cNvSpPr/>
          <p:nvPr/>
        </p:nvSpPr>
        <p:spPr>
          <a:xfrm>
            <a:off x="3074863" y="2001664"/>
            <a:ext cx="1997497" cy="680442"/>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000000"/>
                </a:solidFill>
                <a:latin typeface="Manrope Bold" pitchFamily="34" charset="0"/>
                <a:ea typeface="Manrope Bold" pitchFamily="34" charset="-122"/>
                <a:cs typeface="Manrope Bold" pitchFamily="34" charset="-120"/>
              </a:rPr>
              <a:t>701 customers</a:t>
            </a:r>
            <a:pPr algn="l" indent="0" marL="0">
              <a:lnSpc>
                <a:spcPct val="133000"/>
              </a:lnSpc>
              <a:buNone/>
            </a:pPr>
            <a:r>
              <a:rPr lang="en-US" sz="1100" dirty="0">
                <a:solidFill>
                  <a:srgbClr val="000000"/>
                </a:solidFill>
                <a:latin typeface="Manrope" pitchFamily="34" charset="0"/>
                <a:ea typeface="Manrope" pitchFamily="34" charset="-122"/>
                <a:cs typeface="Manrope" pitchFamily="34" charset="-120"/>
              </a:rPr>
              <a:t> — a middle segment with potential to be converted into loyal buyers</a:t>
            </a:r>
            <a:endParaRPr lang="en-US" sz="1100" dirty="0"/>
          </a:p>
        </p:txBody>
      </p:sp>
      <p:sp>
        <p:nvSpPr>
          <p:cNvPr id="10" name="Shape 7"/>
          <p:cNvSpPr/>
          <p:nvPr/>
        </p:nvSpPr>
        <p:spPr>
          <a:xfrm>
            <a:off x="496119" y="3197200"/>
            <a:ext cx="4722763" cy="1053182"/>
          </a:xfrm>
          <a:prstGeom prst="roundRect">
            <a:avLst>
              <a:gd name="adj" fmla="val 20191"/>
            </a:avLst>
          </a:prstGeom>
          <a:solidFill>
            <a:srgbClr val="E6F7FF"/>
          </a:solidFill>
          <a:ln w="4763">
            <a:solidFill>
              <a:srgbClr val="B3D5E4"/>
            </a:solidFill>
            <a:prstDash val="solid"/>
          </a:ln>
        </p:spPr>
      </p:sp>
      <p:sp>
        <p:nvSpPr>
          <p:cNvPr id="11" name="Text 8"/>
          <p:cNvSpPr/>
          <p:nvPr/>
        </p:nvSpPr>
        <p:spPr>
          <a:xfrm>
            <a:off x="642640" y="3343721"/>
            <a:ext cx="4429720" cy="221456"/>
          </a:xfrm>
          <a:prstGeom prst="rect">
            <a:avLst/>
          </a:prstGeom>
          <a:noFill/>
          <a:ln/>
        </p:spPr>
        <p:txBody>
          <a:bodyPr wrap="none" lIns="0" tIns="0" rIns="0" bIns="0" rtlCol="0" anchor="t"/>
          <a:lstStyle/>
          <a:p>
            <a:pPr algn="l" indent="0" marL="0">
              <a:lnSpc>
                <a:spcPct val="104000"/>
              </a:lnSpc>
              <a:buNone/>
            </a:pPr>
            <a:r>
              <a:rPr lang="en-US" sz="1350" dirty="0">
                <a:solidFill>
                  <a:srgbClr val="000000"/>
                </a:solidFill>
                <a:latin typeface="Twemoji Mozilla" pitchFamily="34" charset="0"/>
                <a:ea typeface="Twemoji Mozilla" pitchFamily="34" charset="-122"/>
                <a:cs typeface="Twemoji Mozilla" pitchFamily="34" charset="-120"/>
              </a:rPr>
              <a:t>🆕</a:t>
            </a:r>
            <a:pPr algn="l" indent="0" marL="0">
              <a:lnSpc>
                <a:spcPct val="104000"/>
              </a:lnSpc>
              <a:buNone/>
            </a:pPr>
            <a:r>
              <a:rPr lang="en-US" sz="1350" dirty="0">
                <a:solidFill>
                  <a:srgbClr val="000000"/>
                </a:solidFill>
                <a:latin typeface="Alexandria Medium" pitchFamily="34" charset="0"/>
                <a:ea typeface="Alexandria Medium" pitchFamily="34" charset="-122"/>
                <a:cs typeface="Alexandria Medium" pitchFamily="34" charset="-120"/>
              </a:rPr>
              <a:t> New</a:t>
            </a:r>
            <a:endParaRPr lang="en-US" sz="1350" dirty="0"/>
          </a:p>
        </p:txBody>
      </p:sp>
      <p:sp>
        <p:nvSpPr>
          <p:cNvPr id="12" name="Text 9"/>
          <p:cNvSpPr/>
          <p:nvPr/>
        </p:nvSpPr>
        <p:spPr>
          <a:xfrm>
            <a:off x="642640" y="3650233"/>
            <a:ext cx="4429720" cy="453628"/>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000000"/>
                </a:solidFill>
                <a:latin typeface="Manrope Bold" pitchFamily="34" charset="0"/>
                <a:ea typeface="Manrope Bold" pitchFamily="34" charset="-122"/>
                <a:cs typeface="Manrope Bold" pitchFamily="34" charset="-120"/>
              </a:rPr>
              <a:t>83 customers</a:t>
            </a:r>
            <a:pPr algn="l" indent="0" marL="0">
              <a:lnSpc>
                <a:spcPct val="133000"/>
              </a:lnSpc>
              <a:buNone/>
            </a:pPr>
            <a:r>
              <a:rPr lang="en-US" sz="1100" dirty="0">
                <a:solidFill>
                  <a:srgbClr val="000000"/>
                </a:solidFill>
                <a:latin typeface="Manrope" pitchFamily="34" charset="0"/>
                <a:ea typeface="Manrope" pitchFamily="34" charset="-122"/>
                <a:cs typeface="Manrope" pitchFamily="34" charset="-120"/>
              </a:rPr>
              <a:t> — a small but important segment for acquisition and growth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93576"/>
            <a:ext cx="8151763" cy="228451"/>
          </a:xfrm>
          <a:prstGeom prst="rect">
            <a:avLst/>
          </a:prstGeom>
          <a:noFill/>
          <a:ln/>
        </p:spPr>
        <p:txBody>
          <a:bodyPr wrap="none" lIns="0" tIns="0" rIns="0" bIns="0" rtlCol="0" anchor="t"/>
          <a:lstStyle/>
          <a:p>
            <a:pPr algn="l" indent="0" marL="0">
              <a:lnSpc>
                <a:spcPct val="104000"/>
              </a:lnSpc>
              <a:buNone/>
            </a:pPr>
            <a:r>
              <a:rPr lang="en-US" sz="1400" dirty="0">
                <a:solidFill>
                  <a:srgbClr val="5B6E8C"/>
                </a:solidFill>
                <a:latin typeface="Alexandria Medium" pitchFamily="34" charset="0"/>
                <a:ea typeface="Alexandria Medium" pitchFamily="34" charset="-122"/>
                <a:cs typeface="Alexandria Medium" pitchFamily="34" charset="-120"/>
              </a:rPr>
              <a:t>Top Products by Category</a:t>
            </a:r>
            <a:endParaRPr lang="en-US" sz="1400" dirty="0"/>
          </a:p>
        </p:txBody>
      </p:sp>
      <p:pic>
        <p:nvPicPr>
          <p:cNvPr id="3" name="Image 0" descr="preencoded.png">    </p:cNvPr>
          <p:cNvPicPr>
            <a:picLocks noChangeAspect="1"/>
          </p:cNvPicPr>
          <p:nvPr/>
        </p:nvPicPr>
        <p:blipFill>
          <a:blip r:embed="rId1"/>
          <a:stretch>
            <a:fillRect/>
          </a:stretch>
        </p:blipFill>
        <p:spPr>
          <a:xfrm>
            <a:off x="496119" y="720849"/>
            <a:ext cx="3986733" cy="3986733"/>
          </a:xfrm>
          <a:prstGeom prst="rect">
            <a:avLst/>
          </a:prstGeom>
        </p:spPr>
      </p:pic>
      <p:sp>
        <p:nvSpPr>
          <p:cNvPr id="4" name="Text 1"/>
          <p:cNvSpPr/>
          <p:nvPr/>
        </p:nvSpPr>
        <p:spPr>
          <a:xfrm>
            <a:off x="4665911" y="2490415"/>
            <a:ext cx="3986733" cy="114226"/>
          </a:xfrm>
          <a:prstGeom prst="rect">
            <a:avLst/>
          </a:prstGeom>
          <a:noFill/>
          <a:ln/>
        </p:spPr>
        <p:txBody>
          <a:bodyPr wrap="none" lIns="0" tIns="0" rIns="0" bIns="0" rtlCol="0" anchor="t"/>
          <a:lstStyle/>
          <a:p>
            <a:pPr algn="l" indent="0" marL="0">
              <a:lnSpc>
                <a:spcPct val="104000"/>
              </a:lnSpc>
              <a:buNone/>
            </a:pPr>
            <a:r>
              <a:rPr lang="en-US" sz="700" dirty="0">
                <a:solidFill>
                  <a:srgbClr val="5B6E8C"/>
                </a:solidFill>
                <a:latin typeface="Alexandria Medium" pitchFamily="34" charset="0"/>
                <a:ea typeface="Alexandria Medium" pitchFamily="34" charset="-122"/>
                <a:cs typeface="Alexandria Medium" pitchFamily="34" charset="-120"/>
              </a:rPr>
              <a:t>Best-Sellers by Category</a:t>
            </a:r>
            <a:endParaRPr lang="en-US" sz="700" dirty="0"/>
          </a:p>
        </p:txBody>
      </p:sp>
      <p:sp>
        <p:nvSpPr>
          <p:cNvPr id="5" name="Text 2"/>
          <p:cNvSpPr/>
          <p:nvPr/>
        </p:nvSpPr>
        <p:spPr>
          <a:xfrm>
            <a:off x="4665911" y="2642295"/>
            <a:ext cx="3986733" cy="299517"/>
          </a:xfrm>
          <a:prstGeom prst="rect">
            <a:avLst/>
          </a:prstGeom>
          <a:noFill/>
          <a:ln/>
        </p:spPr>
        <p:txBody>
          <a:bodyPr wrap="square" lIns="0" tIns="0" rIns="0" bIns="0" rtlCol="0" anchor="t">
            <a:normAutofit/>
          </a:bodyPr>
          <a:lstStyle/>
          <a:p>
            <a:pPr algn="l" indent="0" marL="0">
              <a:lnSpc>
                <a:spcPct val="101000"/>
              </a:lnSpc>
              <a:buNone/>
            </a:pPr>
            <a:r>
              <a:rPr lang="en-US" sz="550" dirty="0">
                <a:solidFill>
                  <a:srgbClr val="5B6E8C"/>
                </a:solidFill>
                <a:latin typeface="Manrope" pitchFamily="34" charset="0"/>
                <a:ea typeface="Manrope" pitchFamily="34" charset="-122"/>
                <a:cs typeface="Manrope" pitchFamily="34" charset="-120"/>
              </a:rPr>
              <a:t>Clothing leads overall, with </a:t>
            </a:r>
            <a:pPr algn="l" indent="0" marL="0">
              <a:lnSpc>
                <a:spcPct val="101000"/>
              </a:lnSpc>
              <a:buNone/>
            </a:pPr>
            <a:r>
              <a:rPr lang="en-US" sz="550" b="1" dirty="0">
                <a:solidFill>
                  <a:srgbClr val="5B6E8C"/>
                </a:solidFill>
                <a:latin typeface="Manrope Bold" pitchFamily="34" charset="0"/>
                <a:ea typeface="Manrope Bold" pitchFamily="34" charset="-122"/>
                <a:cs typeface="Manrope Bold" pitchFamily="34" charset="-120"/>
              </a:rPr>
              <a:t>Blouse</a:t>
            </a:r>
            <a:pPr algn="l" indent="0" marL="0">
              <a:lnSpc>
                <a:spcPct val="101000"/>
              </a:lnSpc>
              <a:buNone/>
            </a:pPr>
            <a:r>
              <a:rPr lang="en-US" sz="550" dirty="0">
                <a:solidFill>
                  <a:srgbClr val="5B6E8C"/>
                </a:solidFill>
                <a:latin typeface="Manrope" pitchFamily="34" charset="0"/>
                <a:ea typeface="Manrope" pitchFamily="34" charset="-122"/>
                <a:cs typeface="Manrope" pitchFamily="34" charset="-120"/>
              </a:rPr>
              <a:t> and </a:t>
            </a:r>
            <a:pPr algn="l" indent="0" marL="0">
              <a:lnSpc>
                <a:spcPct val="101000"/>
              </a:lnSpc>
              <a:buNone/>
            </a:pPr>
            <a:r>
              <a:rPr lang="en-US" sz="550" b="1" dirty="0">
                <a:solidFill>
                  <a:srgbClr val="5B6E8C"/>
                </a:solidFill>
                <a:latin typeface="Manrope Bold" pitchFamily="34" charset="0"/>
                <a:ea typeface="Manrope Bold" pitchFamily="34" charset="-122"/>
                <a:cs typeface="Manrope Bold" pitchFamily="34" charset="-120"/>
              </a:rPr>
              <a:t>Pants</a:t>
            </a:r>
            <a:pPr algn="l" indent="0" marL="0">
              <a:lnSpc>
                <a:spcPct val="101000"/>
              </a:lnSpc>
              <a:buNone/>
            </a:pPr>
            <a:r>
              <a:rPr lang="en-US" sz="550" dirty="0">
                <a:solidFill>
                  <a:srgbClr val="5B6E8C"/>
                </a:solidFill>
                <a:latin typeface="Manrope" pitchFamily="34" charset="0"/>
                <a:ea typeface="Manrope" pitchFamily="34" charset="-122"/>
                <a:cs typeface="Manrope" pitchFamily="34" charset="-120"/>
              </a:rPr>
              <a:t> tied at 171 orders each. In Outerwear, </a:t>
            </a:r>
            <a:pPr algn="l" indent="0" marL="0">
              <a:lnSpc>
                <a:spcPct val="101000"/>
              </a:lnSpc>
              <a:buNone/>
            </a:pPr>
            <a:r>
              <a:rPr lang="en-US" sz="550" b="1" dirty="0">
                <a:solidFill>
                  <a:srgbClr val="5B6E8C"/>
                </a:solidFill>
                <a:latin typeface="Manrope Bold" pitchFamily="34" charset="0"/>
                <a:ea typeface="Manrope Bold" pitchFamily="34" charset="-122"/>
                <a:cs typeface="Manrope Bold" pitchFamily="34" charset="-120"/>
              </a:rPr>
              <a:t>Jacket</a:t>
            </a:r>
            <a:pPr algn="l" indent="0" marL="0">
              <a:lnSpc>
                <a:spcPct val="101000"/>
              </a:lnSpc>
              <a:buNone/>
            </a:pPr>
            <a:r>
              <a:rPr lang="en-US" sz="550" dirty="0">
                <a:solidFill>
                  <a:srgbClr val="5B6E8C"/>
                </a:solidFill>
                <a:latin typeface="Manrope" pitchFamily="34" charset="0"/>
                <a:ea typeface="Manrope" pitchFamily="34" charset="-122"/>
                <a:cs typeface="Manrope" pitchFamily="34" charset="-120"/>
              </a:rPr>
              <a:t> tops the category with 163 orders. </a:t>
            </a:r>
            <a:pPr algn="l" indent="0" marL="0">
              <a:lnSpc>
                <a:spcPct val="101000"/>
              </a:lnSpc>
              <a:buNone/>
            </a:pPr>
            <a:r>
              <a:rPr lang="en-US" sz="550" b="1" dirty="0">
                <a:solidFill>
                  <a:srgbClr val="5B6E8C"/>
                </a:solidFill>
                <a:latin typeface="Manrope Bold" pitchFamily="34" charset="0"/>
                <a:ea typeface="Manrope Bold" pitchFamily="34" charset="-122"/>
                <a:cs typeface="Manrope Bold" pitchFamily="34" charset="-120"/>
              </a:rPr>
              <a:t>Sandals</a:t>
            </a:r>
            <a:pPr algn="l" indent="0" marL="0">
              <a:lnSpc>
                <a:spcPct val="101000"/>
              </a:lnSpc>
              <a:buNone/>
            </a:pPr>
            <a:r>
              <a:rPr lang="en-US" sz="550" dirty="0">
                <a:solidFill>
                  <a:srgbClr val="5B6E8C"/>
                </a:solidFill>
                <a:latin typeface="Manrope" pitchFamily="34" charset="0"/>
                <a:ea typeface="Manrope" pitchFamily="34" charset="-122"/>
                <a:cs typeface="Manrope" pitchFamily="34" charset="-120"/>
              </a:rPr>
              <a:t> is the leading Footwear item at 160 orders, while </a:t>
            </a:r>
            <a:pPr algn="l" indent="0" marL="0">
              <a:lnSpc>
                <a:spcPct val="101000"/>
              </a:lnSpc>
              <a:buNone/>
            </a:pPr>
            <a:r>
              <a:rPr lang="en-US" sz="550" b="1" dirty="0">
                <a:solidFill>
                  <a:srgbClr val="5B6E8C"/>
                </a:solidFill>
                <a:latin typeface="Manrope Bold" pitchFamily="34" charset="0"/>
                <a:ea typeface="Manrope Bold" pitchFamily="34" charset="-122"/>
                <a:cs typeface="Manrope Bold" pitchFamily="34" charset="-120"/>
              </a:rPr>
              <a:t>Jewelry</a:t>
            </a:r>
            <a:pPr algn="l" indent="0" marL="0">
              <a:lnSpc>
                <a:spcPct val="101000"/>
              </a:lnSpc>
              <a:spcAft>
                <a:spcPts val="250"/>
              </a:spcAft>
              <a:buNone/>
            </a:pPr>
            <a:r>
              <a:rPr lang="en-US" sz="550" dirty="0">
                <a:solidFill>
                  <a:srgbClr val="5B6E8C"/>
                </a:solidFill>
                <a:latin typeface="Manrope" pitchFamily="34" charset="0"/>
                <a:ea typeface="Manrope" pitchFamily="34" charset="-122"/>
                <a:cs typeface="Manrope" pitchFamily="34" charset="-120"/>
              </a:rPr>
              <a:t> leads Accessories at 171 orders.</a:t>
            </a:r>
            <a:endParaRPr lang="en-US" sz="550" dirty="0"/>
          </a:p>
          <a:p>
            <a:pPr algn="l" indent="0" marL="0">
              <a:lnSpc>
                <a:spcPct val="101000"/>
              </a:lnSpc>
              <a:buNone/>
            </a:pPr>
            <a:r>
              <a:rPr lang="en-US" sz="550" dirty="0">
                <a:solidFill>
                  <a:srgbClr val="5B6E8C"/>
                </a:solidFill>
                <a:latin typeface="Manrope" pitchFamily="34" charset="0"/>
                <a:ea typeface="Manrope" pitchFamily="34" charset="-122"/>
                <a:cs typeface="Manrope" pitchFamily="34" charset="-120"/>
              </a:rPr>
              <a:t>These top-performing products should be prioritized in marketing campaigns and inventory planning.</a:t>
            </a:r>
            <a:endParaRPr lang="en-US" sz="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679772"/>
            <a:ext cx="8151763" cy="442987"/>
          </a:xfrm>
          <a:prstGeom prst="rect">
            <a:avLst/>
          </a:prstGeom>
          <a:noFill/>
          <a:ln/>
        </p:spPr>
        <p:txBody>
          <a:bodyPr wrap="none" lIns="0" tIns="0" rIns="0" bIns="0" rtlCol="0" anchor="t"/>
          <a:lstStyle/>
          <a:p>
            <a:pPr algn="l" indent="0" marL="0">
              <a:lnSpc>
                <a:spcPct val="104000"/>
              </a:lnSpc>
              <a:buNone/>
            </a:pPr>
            <a:r>
              <a:rPr lang="en-US" sz="2750" dirty="0">
                <a:solidFill>
                  <a:srgbClr val="5B6E8C"/>
                </a:solidFill>
                <a:latin typeface="Alexandria Medium" pitchFamily="34" charset="0"/>
                <a:ea typeface="Alexandria Medium" pitchFamily="34" charset="-122"/>
                <a:cs typeface="Alexandria Medium" pitchFamily="34" charset="-120"/>
              </a:rPr>
              <a:t>Revenue by Age Group</a:t>
            </a:r>
            <a:endParaRPr lang="en-US" sz="2750" dirty="0"/>
          </a:p>
        </p:txBody>
      </p:sp>
      <p:pic>
        <p:nvPicPr>
          <p:cNvPr id="3" name="Image 0" descr="preencoded.png">    </p:cNvPr>
          <p:cNvPicPr>
            <a:picLocks noChangeAspect="1"/>
          </p:cNvPicPr>
          <p:nvPr/>
        </p:nvPicPr>
        <p:blipFill>
          <a:blip r:embed="rId1"/>
          <a:stretch>
            <a:fillRect/>
          </a:stretch>
        </p:blipFill>
        <p:spPr>
          <a:xfrm>
            <a:off x="496119" y="1494830"/>
            <a:ext cx="3902943" cy="2809354"/>
          </a:xfrm>
          <a:prstGeom prst="rect">
            <a:avLst/>
          </a:prstGeom>
        </p:spPr>
      </p:pic>
      <p:sp>
        <p:nvSpPr>
          <p:cNvPr id="4" name="Text 1"/>
          <p:cNvSpPr/>
          <p:nvPr/>
        </p:nvSpPr>
        <p:spPr>
          <a:xfrm>
            <a:off x="4749701" y="1477119"/>
            <a:ext cx="3902943" cy="221456"/>
          </a:xfrm>
          <a:prstGeom prst="rect">
            <a:avLst/>
          </a:prstGeom>
          <a:noFill/>
          <a:ln/>
        </p:spPr>
        <p:txBody>
          <a:bodyPr wrap="none" lIns="0" tIns="0" rIns="0" bIns="0" rtlCol="0" anchor="t"/>
          <a:lstStyle/>
          <a:p>
            <a:pPr algn="l" indent="0" marL="0">
              <a:lnSpc>
                <a:spcPct val="104000"/>
              </a:lnSpc>
              <a:buNone/>
            </a:pPr>
            <a:r>
              <a:rPr lang="en-US" sz="1350" dirty="0">
                <a:solidFill>
                  <a:srgbClr val="5B6E8C"/>
                </a:solidFill>
                <a:latin typeface="Alexandria Medium" pitchFamily="34" charset="0"/>
                <a:ea typeface="Alexandria Medium" pitchFamily="34" charset="-122"/>
                <a:cs typeface="Alexandria Medium" pitchFamily="34" charset="-120"/>
              </a:rPr>
              <a:t>Age Group Insights</a:t>
            </a:r>
            <a:endParaRPr lang="en-US" sz="1350" dirty="0"/>
          </a:p>
        </p:txBody>
      </p:sp>
      <p:sp>
        <p:nvSpPr>
          <p:cNvPr id="5" name="Text 2"/>
          <p:cNvSpPr/>
          <p:nvPr/>
        </p:nvSpPr>
        <p:spPr>
          <a:xfrm>
            <a:off x="4749701" y="1840334"/>
            <a:ext cx="3902943" cy="1488430"/>
          </a:xfrm>
          <a:prstGeom prst="rect">
            <a:avLst/>
          </a:prstGeom>
          <a:noFill/>
          <a:ln/>
        </p:spPr>
        <p:txBody>
          <a:bodyPr wrap="square" lIns="0" tIns="0" rIns="0" bIns="0" rtlCol="0" anchor="t">
            <a:normAutofit/>
          </a:bodyPr>
          <a:lstStyle/>
          <a:p>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Young Adults</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 are the top revenue contributors at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$62,143</a:t>
            </a:r>
            <a:pPr algn="l" indent="0" marL="0">
              <a:lnSpc>
                <a:spcPct val="133000"/>
              </a:lnSpc>
              <a:spcAft>
                <a:spcPts val="1000"/>
              </a:spcAft>
              <a:buNone/>
            </a:pPr>
            <a:r>
              <a:rPr lang="en-US" sz="1100" dirty="0">
                <a:solidFill>
                  <a:srgbClr val="5B6E8C"/>
                </a:solidFill>
                <a:latin typeface="Manrope" pitchFamily="34" charset="0"/>
                <a:ea typeface="Manrope" pitchFamily="34" charset="-122"/>
                <a:cs typeface="Manrope" pitchFamily="34" charset="-120"/>
              </a:rPr>
              <a:t>, followed by Middle-aged ($59,197), Adult ($55,978), and Senior ($55,763).</a:t>
            </a:r>
            <a:endParaRPr lang="en-US" sz="1100" dirty="0"/>
          </a:p>
          <a:p>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Revenue is relatively evenly distributed across all four age groups, with Young Adults generating roughly </a:t>
            </a:r>
            <a:pPr algn="l" indent="0" marL="0">
              <a:lnSpc>
                <a:spcPct val="133000"/>
              </a:lnSpc>
              <a:buNone/>
            </a:pPr>
            <a:r>
              <a:rPr lang="en-US" sz="1100" b="1" dirty="0">
                <a:solidFill>
                  <a:srgbClr val="5B6E8C"/>
                </a:solidFill>
                <a:latin typeface="Manrope Bold" pitchFamily="34" charset="0"/>
                <a:ea typeface="Manrope Bold" pitchFamily="34" charset="-122"/>
                <a:cs typeface="Manrope Bold" pitchFamily="34" charset="-120"/>
              </a:rPr>
              <a:t>11% more</a:t>
            </a:r>
            <a:pPr algn="l" indent="0" marL="0">
              <a:lnSpc>
                <a:spcPct val="133000"/>
              </a:lnSpc>
              <a:buNone/>
            </a:pPr>
            <a:r>
              <a:rPr lang="en-US" sz="1100" dirty="0">
                <a:solidFill>
                  <a:srgbClr val="5B6E8C"/>
                </a:solidFill>
                <a:latin typeface="Manrope" pitchFamily="34" charset="0"/>
                <a:ea typeface="Manrope" pitchFamily="34" charset="-122"/>
                <a:cs typeface="Manrope" pitchFamily="34" charset="-120"/>
              </a:rPr>
              <a:t> than Seniors — the lowest-contributing segment.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418951"/>
            <a:ext cx="8151763" cy="394543"/>
          </a:xfrm>
          <a:prstGeom prst="rect">
            <a:avLst/>
          </a:prstGeom>
          <a:noFill/>
          <a:ln/>
        </p:spPr>
        <p:txBody>
          <a:bodyPr wrap="none" lIns="0" tIns="0" rIns="0" bIns="0" rtlCol="0" anchor="t"/>
          <a:lstStyle/>
          <a:p>
            <a:pPr algn="l" indent="0" marL="0">
              <a:lnSpc>
                <a:spcPct val="104000"/>
              </a:lnSpc>
              <a:buNone/>
            </a:pPr>
            <a:r>
              <a:rPr lang="en-US" sz="2450" dirty="0">
                <a:solidFill>
                  <a:srgbClr val="5B6E8C"/>
                </a:solidFill>
                <a:latin typeface="Alexandria Medium" pitchFamily="34" charset="0"/>
                <a:ea typeface="Alexandria Medium" pitchFamily="34" charset="-122"/>
                <a:cs typeface="Alexandria Medium" pitchFamily="34" charset="-120"/>
              </a:rPr>
              <a:t>Power BI Dashboard &amp; Business Recommendations</a:t>
            </a:r>
            <a:endParaRPr lang="en-US" sz="2450" dirty="0"/>
          </a:p>
        </p:txBody>
      </p:sp>
      <p:sp>
        <p:nvSpPr>
          <p:cNvPr id="3" name="Text 1"/>
          <p:cNvSpPr/>
          <p:nvPr/>
        </p:nvSpPr>
        <p:spPr>
          <a:xfrm>
            <a:off x="496119" y="1038374"/>
            <a:ext cx="8151763" cy="381893"/>
          </a:xfrm>
          <a:prstGeom prst="rect">
            <a:avLst/>
          </a:prstGeom>
          <a:noFill/>
          <a:ln/>
        </p:spPr>
        <p:txBody>
          <a:bodyPr wrap="square" lIns="0" tIns="0" rIns="0" bIns="0" rtlCol="0" anchor="t">
            <a:normAutofit/>
          </a:bodyPr>
          <a:lstStyle/>
          <a:p>
            <a:pPr algn="l" indent="0" marL="0">
              <a:lnSpc>
                <a:spcPct val="126000"/>
              </a:lnSpc>
              <a:buNone/>
            </a:pPr>
            <a:r>
              <a:rPr lang="en-US" sz="950" dirty="0">
                <a:solidFill>
                  <a:srgbClr val="5B6E8C"/>
                </a:solidFill>
                <a:latin typeface="Manrope" pitchFamily="34" charset="0"/>
                <a:ea typeface="Manrope" pitchFamily="34" charset="-122"/>
                <a:cs typeface="Manrope" pitchFamily="34" charset="-120"/>
              </a:rPr>
              <a:t>An interactive </a:t>
            </a:r>
            <a:pPr algn="l" indent="0" marL="0">
              <a:lnSpc>
                <a:spcPct val="126000"/>
              </a:lnSpc>
              <a:buNone/>
            </a:pPr>
            <a:r>
              <a:rPr lang="en-US" sz="950" b="1" dirty="0">
                <a:solidFill>
                  <a:srgbClr val="5B6E8C"/>
                </a:solidFill>
                <a:latin typeface="Manrope Bold" pitchFamily="34" charset="0"/>
                <a:ea typeface="Manrope Bold" pitchFamily="34" charset="-122"/>
                <a:cs typeface="Manrope Bold" pitchFamily="34" charset="-120"/>
              </a:rPr>
              <a:t>Power BI dashboard</a:t>
            </a:r>
            <a:pPr algn="l" indent="0" marL="0">
              <a:lnSpc>
                <a:spcPct val="126000"/>
              </a:lnSpc>
              <a:buNone/>
            </a:pPr>
            <a:r>
              <a:rPr lang="en-US" sz="950" dirty="0">
                <a:solidFill>
                  <a:srgbClr val="5B6E8C"/>
                </a:solidFill>
                <a:latin typeface="Manrope" pitchFamily="34" charset="0"/>
                <a:ea typeface="Manrope" pitchFamily="34" charset="-122"/>
                <a:cs typeface="Manrope" pitchFamily="34" charset="-120"/>
              </a:rPr>
              <a:t> visualizes all key metrics — 3.9K customers, $59.76 avg purchase, 3.75 avg rating — with filters for subscription, gender, category, and shipping.</a:t>
            </a:r>
            <a:endParaRPr lang="en-US" sz="9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43446" y="1550677"/>
            <a:ext cx="189384" cy="189384"/>
          </a:xfrm>
          <a:prstGeom prst="rect">
            <a:avLst/>
          </a:prstGeom>
        </p:spPr>
      </p:pic>
      <p:sp>
        <p:nvSpPr>
          <p:cNvPr id="5" name="Text 2"/>
          <p:cNvSpPr/>
          <p:nvPr/>
        </p:nvSpPr>
        <p:spPr>
          <a:xfrm>
            <a:off x="906363" y="1546771"/>
            <a:ext cx="7741518" cy="197272"/>
          </a:xfrm>
          <a:prstGeom prst="rect">
            <a:avLst/>
          </a:prstGeom>
          <a:noFill/>
          <a:ln/>
        </p:spPr>
        <p:txBody>
          <a:bodyPr wrap="none" lIns="0" tIns="0" rIns="0" bIns="0" rtlCol="0" anchor="t"/>
          <a:lstStyle/>
          <a:p>
            <a:pPr algn="l" indent="0" marL="0">
              <a:lnSpc>
                <a:spcPct val="104000"/>
              </a:lnSpc>
              <a:buNone/>
            </a:pPr>
            <a:r>
              <a:rPr lang="en-US" sz="1200" dirty="0">
                <a:solidFill>
                  <a:srgbClr val="5B6E8C"/>
                </a:solidFill>
                <a:latin typeface="Alexandria Medium" pitchFamily="34" charset="0"/>
                <a:ea typeface="Alexandria Medium" pitchFamily="34" charset="-122"/>
                <a:cs typeface="Alexandria Medium" pitchFamily="34" charset="-120"/>
              </a:rPr>
              <a:t>Boost Subscriptions</a:t>
            </a:r>
            <a:endParaRPr lang="en-US" sz="1200" dirty="0"/>
          </a:p>
        </p:txBody>
      </p:sp>
      <p:sp>
        <p:nvSpPr>
          <p:cNvPr id="6" name="Text 3"/>
          <p:cNvSpPr/>
          <p:nvPr/>
        </p:nvSpPr>
        <p:spPr>
          <a:xfrm>
            <a:off x="906363" y="1811462"/>
            <a:ext cx="7741518" cy="190946"/>
          </a:xfrm>
          <a:prstGeom prst="rect">
            <a:avLst/>
          </a:prstGeom>
          <a:noFill/>
          <a:ln/>
        </p:spPr>
        <p:txBody>
          <a:bodyPr wrap="none" lIns="0" tIns="0" rIns="0" bIns="0" rtlCol="0" anchor="t"/>
          <a:lstStyle/>
          <a:p>
            <a:pPr algn="l" indent="0" marL="0">
              <a:lnSpc>
                <a:spcPct val="126000"/>
              </a:lnSpc>
              <a:buNone/>
            </a:pPr>
            <a:r>
              <a:rPr lang="en-US" sz="950" dirty="0">
                <a:solidFill>
                  <a:srgbClr val="5B6E8C"/>
                </a:solidFill>
                <a:latin typeface="Manrope" pitchFamily="34" charset="0"/>
                <a:ea typeface="Manrope" pitchFamily="34" charset="-122"/>
                <a:cs typeface="Manrope" pitchFamily="34" charset="-120"/>
              </a:rPr>
              <a:t>Promote exclusive subscriber benefits</a:t>
            </a:r>
            <a:endParaRPr lang="en-US" sz="9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3446" y="2231194"/>
            <a:ext cx="189384" cy="189384"/>
          </a:xfrm>
          <a:prstGeom prst="rect">
            <a:avLst/>
          </a:prstGeom>
        </p:spPr>
      </p:pic>
      <p:sp>
        <p:nvSpPr>
          <p:cNvPr id="8" name="Text 4"/>
          <p:cNvSpPr/>
          <p:nvPr/>
        </p:nvSpPr>
        <p:spPr>
          <a:xfrm>
            <a:off x="906363" y="2227287"/>
            <a:ext cx="7741518" cy="197272"/>
          </a:xfrm>
          <a:prstGeom prst="rect">
            <a:avLst/>
          </a:prstGeom>
          <a:noFill/>
          <a:ln/>
        </p:spPr>
        <p:txBody>
          <a:bodyPr wrap="none" lIns="0" tIns="0" rIns="0" bIns="0" rtlCol="0" anchor="t"/>
          <a:lstStyle/>
          <a:p>
            <a:pPr algn="l" indent="0" marL="0">
              <a:lnSpc>
                <a:spcPct val="104000"/>
              </a:lnSpc>
              <a:buNone/>
            </a:pPr>
            <a:r>
              <a:rPr lang="en-US" sz="1200" dirty="0">
                <a:solidFill>
                  <a:srgbClr val="5B6E8C"/>
                </a:solidFill>
                <a:latin typeface="Alexandria Medium" pitchFamily="34" charset="0"/>
                <a:ea typeface="Alexandria Medium" pitchFamily="34" charset="-122"/>
                <a:cs typeface="Alexandria Medium" pitchFamily="34" charset="-120"/>
              </a:rPr>
              <a:t>Loyalty Programs</a:t>
            </a:r>
            <a:endParaRPr lang="en-US" sz="1200" dirty="0"/>
          </a:p>
        </p:txBody>
      </p:sp>
      <p:sp>
        <p:nvSpPr>
          <p:cNvPr id="9" name="Text 5"/>
          <p:cNvSpPr/>
          <p:nvPr/>
        </p:nvSpPr>
        <p:spPr>
          <a:xfrm>
            <a:off x="906363" y="2491978"/>
            <a:ext cx="7741518" cy="190946"/>
          </a:xfrm>
          <a:prstGeom prst="rect">
            <a:avLst/>
          </a:prstGeom>
          <a:noFill/>
          <a:ln/>
        </p:spPr>
        <p:txBody>
          <a:bodyPr wrap="none" lIns="0" tIns="0" rIns="0" bIns="0" rtlCol="0" anchor="t"/>
          <a:lstStyle/>
          <a:p>
            <a:pPr algn="l" indent="0" marL="0">
              <a:lnSpc>
                <a:spcPct val="126000"/>
              </a:lnSpc>
              <a:buNone/>
            </a:pPr>
            <a:r>
              <a:rPr lang="en-US" sz="950" dirty="0">
                <a:solidFill>
                  <a:srgbClr val="5B6E8C"/>
                </a:solidFill>
                <a:latin typeface="Manrope" pitchFamily="34" charset="0"/>
                <a:ea typeface="Manrope" pitchFamily="34" charset="-122"/>
                <a:cs typeface="Manrope" pitchFamily="34" charset="-120"/>
              </a:rPr>
              <a:t>Reward repeat buyers to move them into the "Loyal" segment</a:t>
            </a:r>
            <a:endParaRPr lang="en-US" sz="9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43446" y="2911711"/>
            <a:ext cx="189384" cy="189384"/>
          </a:xfrm>
          <a:prstGeom prst="rect">
            <a:avLst/>
          </a:prstGeom>
        </p:spPr>
      </p:pic>
      <p:sp>
        <p:nvSpPr>
          <p:cNvPr id="11" name="Text 6"/>
          <p:cNvSpPr/>
          <p:nvPr/>
        </p:nvSpPr>
        <p:spPr>
          <a:xfrm>
            <a:off x="906363" y="2907804"/>
            <a:ext cx="7741518" cy="197272"/>
          </a:xfrm>
          <a:prstGeom prst="rect">
            <a:avLst/>
          </a:prstGeom>
          <a:noFill/>
          <a:ln/>
        </p:spPr>
        <p:txBody>
          <a:bodyPr wrap="none" lIns="0" tIns="0" rIns="0" bIns="0" rtlCol="0" anchor="t"/>
          <a:lstStyle/>
          <a:p>
            <a:pPr algn="l" indent="0" marL="0">
              <a:lnSpc>
                <a:spcPct val="104000"/>
              </a:lnSpc>
              <a:buNone/>
            </a:pPr>
            <a:r>
              <a:rPr lang="en-US" sz="1200" dirty="0">
                <a:solidFill>
                  <a:srgbClr val="5B6E8C"/>
                </a:solidFill>
                <a:latin typeface="Alexandria Medium" pitchFamily="34" charset="0"/>
                <a:ea typeface="Alexandria Medium" pitchFamily="34" charset="-122"/>
                <a:cs typeface="Alexandria Medium" pitchFamily="34" charset="-120"/>
              </a:rPr>
              <a:t>Review Discount Policy</a:t>
            </a:r>
            <a:endParaRPr lang="en-US" sz="1200" dirty="0"/>
          </a:p>
        </p:txBody>
      </p:sp>
      <p:sp>
        <p:nvSpPr>
          <p:cNvPr id="12" name="Text 7"/>
          <p:cNvSpPr/>
          <p:nvPr/>
        </p:nvSpPr>
        <p:spPr>
          <a:xfrm>
            <a:off x="906363" y="3172495"/>
            <a:ext cx="7741518" cy="190946"/>
          </a:xfrm>
          <a:prstGeom prst="rect">
            <a:avLst/>
          </a:prstGeom>
          <a:noFill/>
          <a:ln/>
        </p:spPr>
        <p:txBody>
          <a:bodyPr wrap="none" lIns="0" tIns="0" rIns="0" bIns="0" rtlCol="0" anchor="t"/>
          <a:lstStyle/>
          <a:p>
            <a:pPr algn="l" indent="0" marL="0">
              <a:lnSpc>
                <a:spcPct val="126000"/>
              </a:lnSpc>
              <a:buNone/>
            </a:pPr>
            <a:r>
              <a:rPr lang="en-US" sz="950" dirty="0">
                <a:solidFill>
                  <a:srgbClr val="5B6E8C"/>
                </a:solidFill>
                <a:latin typeface="Manrope" pitchFamily="34" charset="0"/>
                <a:ea typeface="Manrope" pitchFamily="34" charset="-122"/>
                <a:cs typeface="Manrope" pitchFamily="34" charset="-120"/>
              </a:rPr>
              <a:t>Balance sales boosts with margin control</a:t>
            </a:r>
            <a:endParaRPr lang="en-US" sz="9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43446" y="3592227"/>
            <a:ext cx="189384" cy="189384"/>
          </a:xfrm>
          <a:prstGeom prst="rect">
            <a:avLst/>
          </a:prstGeom>
        </p:spPr>
      </p:pic>
      <p:sp>
        <p:nvSpPr>
          <p:cNvPr id="14" name="Text 8"/>
          <p:cNvSpPr/>
          <p:nvPr/>
        </p:nvSpPr>
        <p:spPr>
          <a:xfrm>
            <a:off x="906363" y="3588321"/>
            <a:ext cx="7741518" cy="197272"/>
          </a:xfrm>
          <a:prstGeom prst="rect">
            <a:avLst/>
          </a:prstGeom>
          <a:noFill/>
          <a:ln/>
        </p:spPr>
        <p:txBody>
          <a:bodyPr wrap="none" lIns="0" tIns="0" rIns="0" bIns="0" rtlCol="0" anchor="t"/>
          <a:lstStyle/>
          <a:p>
            <a:pPr algn="l" indent="0" marL="0">
              <a:lnSpc>
                <a:spcPct val="104000"/>
              </a:lnSpc>
              <a:buNone/>
            </a:pPr>
            <a:r>
              <a:rPr lang="en-US" sz="1200" dirty="0">
                <a:solidFill>
                  <a:srgbClr val="5B6E8C"/>
                </a:solidFill>
                <a:latin typeface="Alexandria Medium" pitchFamily="34" charset="0"/>
                <a:ea typeface="Alexandria Medium" pitchFamily="34" charset="-122"/>
                <a:cs typeface="Alexandria Medium" pitchFamily="34" charset="-120"/>
              </a:rPr>
              <a:t>Product Positioning</a:t>
            </a:r>
            <a:endParaRPr lang="en-US" sz="1200" dirty="0"/>
          </a:p>
        </p:txBody>
      </p:sp>
      <p:sp>
        <p:nvSpPr>
          <p:cNvPr id="15" name="Text 9"/>
          <p:cNvSpPr/>
          <p:nvPr/>
        </p:nvSpPr>
        <p:spPr>
          <a:xfrm>
            <a:off x="906363" y="3853011"/>
            <a:ext cx="7741518" cy="190946"/>
          </a:xfrm>
          <a:prstGeom prst="rect">
            <a:avLst/>
          </a:prstGeom>
          <a:noFill/>
          <a:ln/>
        </p:spPr>
        <p:txBody>
          <a:bodyPr wrap="none" lIns="0" tIns="0" rIns="0" bIns="0" rtlCol="0" anchor="t"/>
          <a:lstStyle/>
          <a:p>
            <a:pPr algn="l" indent="0" marL="0">
              <a:lnSpc>
                <a:spcPct val="126000"/>
              </a:lnSpc>
              <a:buNone/>
            </a:pPr>
            <a:r>
              <a:rPr lang="en-US" sz="950" dirty="0">
                <a:solidFill>
                  <a:srgbClr val="5B6E8C"/>
                </a:solidFill>
                <a:latin typeface="Manrope" pitchFamily="34" charset="0"/>
                <a:ea typeface="Manrope" pitchFamily="34" charset="-122"/>
                <a:cs typeface="Manrope" pitchFamily="34" charset="-120"/>
              </a:rPr>
              <a:t>Highlight top-rated and best-selling products in campaigns</a:t>
            </a:r>
            <a:endParaRPr lang="en-US" sz="950" dirty="0"/>
          </a:p>
        </p:txBody>
      </p:sp>
      <p:pic>
        <p:nvPicPr>
          <p:cNvPr id="16"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43446" y="4272744"/>
            <a:ext cx="189384" cy="189384"/>
          </a:xfrm>
          <a:prstGeom prst="rect">
            <a:avLst/>
          </a:prstGeom>
        </p:spPr>
      </p:pic>
      <p:sp>
        <p:nvSpPr>
          <p:cNvPr id="17" name="Text 10"/>
          <p:cNvSpPr/>
          <p:nvPr/>
        </p:nvSpPr>
        <p:spPr>
          <a:xfrm>
            <a:off x="906363" y="4268837"/>
            <a:ext cx="7741518" cy="197272"/>
          </a:xfrm>
          <a:prstGeom prst="rect">
            <a:avLst/>
          </a:prstGeom>
          <a:noFill/>
          <a:ln/>
        </p:spPr>
        <p:txBody>
          <a:bodyPr wrap="none" lIns="0" tIns="0" rIns="0" bIns="0" rtlCol="0" anchor="t"/>
          <a:lstStyle/>
          <a:p>
            <a:pPr algn="l" indent="0" marL="0">
              <a:lnSpc>
                <a:spcPct val="104000"/>
              </a:lnSpc>
              <a:buNone/>
            </a:pPr>
            <a:r>
              <a:rPr lang="en-US" sz="1200" dirty="0">
                <a:solidFill>
                  <a:srgbClr val="5B6E8C"/>
                </a:solidFill>
                <a:latin typeface="Alexandria Medium" pitchFamily="34" charset="0"/>
                <a:ea typeface="Alexandria Medium" pitchFamily="34" charset="-122"/>
                <a:cs typeface="Alexandria Medium" pitchFamily="34" charset="-120"/>
              </a:rPr>
              <a:t>Targeted Marketing</a:t>
            </a:r>
            <a:endParaRPr lang="en-US" sz="1200" dirty="0"/>
          </a:p>
        </p:txBody>
      </p:sp>
      <p:sp>
        <p:nvSpPr>
          <p:cNvPr id="18" name="Text 11"/>
          <p:cNvSpPr/>
          <p:nvPr/>
        </p:nvSpPr>
        <p:spPr>
          <a:xfrm>
            <a:off x="906363" y="4533528"/>
            <a:ext cx="7741518" cy="190946"/>
          </a:xfrm>
          <a:prstGeom prst="rect">
            <a:avLst/>
          </a:prstGeom>
          <a:noFill/>
          <a:ln/>
        </p:spPr>
        <p:txBody>
          <a:bodyPr wrap="none" lIns="0" tIns="0" rIns="0" bIns="0" rtlCol="0" anchor="t"/>
          <a:lstStyle/>
          <a:p>
            <a:pPr algn="l" indent="0" marL="0">
              <a:lnSpc>
                <a:spcPct val="126000"/>
              </a:lnSpc>
              <a:buNone/>
            </a:pPr>
            <a:r>
              <a:rPr lang="en-US" sz="950" dirty="0">
                <a:solidFill>
                  <a:srgbClr val="5B6E8C"/>
                </a:solidFill>
                <a:latin typeface="Manrope" pitchFamily="34" charset="0"/>
                <a:ea typeface="Manrope" pitchFamily="34" charset="-122"/>
                <a:cs typeface="Manrope" pitchFamily="34" charset="-120"/>
              </a:rPr>
              <a:t>Focus on high-revenue age groups and express-shipping users</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2026-07-12T17:47:04Z</dcterms:created>
  <dcterms:modified xsi:type="dcterms:W3CDTF">2026-07-12T17:47:04Z</dcterms:modified>
</cp:coreProperties>
</file>